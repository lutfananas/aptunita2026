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2672534872-bedn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00375"/>
            <a:ext cx="9144000" cy="21431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491133"/>
            <a:ext cx="328613" cy="14288"/>
          </a:xfrm>
          <a:prstGeom prst="rect">
            <a:avLst/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957263" y="428625"/>
            <a:ext cx="76723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61" kern="0" dirty="0">
                <a:solidFill>
                  <a:srgbClr val="B89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RAPAT PERSIAPAN AKREDITASI</a:t>
            </a:r>
            <a:endParaRPr lang="en-US" sz="800" dirty="0"/>
          </a:p>
        </p:txBody>
      </p:sp>
      <p:sp>
        <p:nvSpPr>
          <p:cNvPr id="7" name="Text 2"/>
          <p:cNvSpPr/>
          <p:nvPr/>
        </p:nvSpPr>
        <p:spPr>
          <a:xfrm>
            <a:off x="514350" y="2467273"/>
            <a:ext cx="7936706" cy="109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76"/>
              </a:lnSpc>
              <a:buNone/>
            </a:pPr>
            <a:r>
              <a:rPr lang="en-US" sz="3488" spc="-35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Membaca Permendiktisaintek</a:t>
            </a:r>
            <a:endParaRPr lang="en-US" sz="3488" dirty="0"/>
          </a:p>
          <a:p>
            <a:pPr algn="l" indent="0" marL="0">
              <a:lnSpc>
                <a:spcPts val="3976"/>
              </a:lnSpc>
              <a:buNone/>
            </a:pPr>
            <a:r>
              <a:rPr lang="en-US" sz="3488" spc="-3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Nomor 10 Tahun </a:t>
            </a:r>
            <a:pPr algn="l" indent="0" marL="0">
              <a:lnSpc>
                <a:spcPts val="3976"/>
              </a:lnSpc>
              <a:buNone/>
            </a:pPr>
            <a:r>
              <a:rPr lang="en-US" sz="3488" spc="-35" kern="0" dirty="0">
                <a:solidFill>
                  <a:srgbClr val="B891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3488" dirty="0"/>
          </a:p>
        </p:txBody>
      </p:sp>
      <p:sp>
        <p:nvSpPr>
          <p:cNvPr id="8" name="Text 3"/>
          <p:cNvSpPr/>
          <p:nvPr/>
        </p:nvSpPr>
        <p:spPr>
          <a:xfrm>
            <a:off x="514350" y="3634160"/>
            <a:ext cx="6286500" cy="474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1"/>
              </a:lnSpc>
              <a:buNone/>
            </a:pPr>
            <a:r>
              <a:rPr lang="en-US" sz="1069" dirty="0">
                <a:solidFill>
                  <a:srgbClr val="FFFFFF">
                    <a:alpha val="9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Perubahan atas Permendiktisaintek Nomor 39 Tahun 2025 tentang Penjaminan Mutu Pendidikan Tinggi — dan apa artinya bagi langkah kita menuju terakreditasi unggul.</a:t>
            </a:r>
            <a:endParaRPr lang="en-US" sz="1069" dirty="0"/>
          </a:p>
        </p:txBody>
      </p:sp>
      <p:sp>
        <p:nvSpPr>
          <p:cNvPr id="9" name="Shape 4"/>
          <p:cNvSpPr/>
          <p:nvPr/>
        </p:nvSpPr>
        <p:spPr>
          <a:xfrm>
            <a:off x="514350" y="4391620"/>
            <a:ext cx="8115300" cy="0"/>
          </a:xfrm>
          <a:prstGeom prst="line">
            <a:avLst/>
          </a:prstGeom>
          <a:noFill/>
          <a:ln w="7144">
            <a:solidFill>
              <a:srgbClr val="F1E7CE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14350" y="4597896"/>
            <a:ext cx="1736964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Universitas Tulungagung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936849" y="4597896"/>
            <a:ext cx="1821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B891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2151943" y="4597896"/>
            <a:ext cx="1547068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Pusat Penjaminan Mutu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422526" y="4597896"/>
            <a:ext cx="1821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B891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637620" y="4590752"/>
            <a:ext cx="131182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Oktober 2026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6093061" y="4541639"/>
            <a:ext cx="2533017" cy="241102"/>
          </a:xfrm>
          <a:prstGeom prst="roundRect">
            <a:avLst>
              <a:gd name="adj" fmla="val 23704"/>
            </a:avLst>
          </a:prstGeom>
          <a:solidFill>
            <a:srgbClr val="0E1C2E">
              <a:alpha val="50000"/>
            </a:srgbClr>
          </a:solidFill>
          <a:ln w="7144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196645" y="460861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B8912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055" dirty="0"/>
          </a:p>
        </p:txBody>
      </p:sp>
      <p:sp>
        <p:nvSpPr>
          <p:cNvPr id="17" name="Text 12"/>
          <p:cNvSpPr/>
          <p:nvPr/>
        </p:nvSpPr>
        <p:spPr>
          <a:xfrm>
            <a:off x="6368095" y="4595217"/>
            <a:ext cx="2264127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35" kern="0" dirty="0">
                <a:solidFill>
                  <a:srgbClr val="F1E7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Berita Negara RI Tahun 2026 Nomor 477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7188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A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LANDSAN REGULASI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6497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Dasar Hukum yang Kita Pegang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57200" y="923665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206" y="1202271"/>
            <a:ext cx="14288" cy="3051832"/>
          </a:xfrm>
          <a:prstGeom prst="rect">
            <a:avLst/>
          </a:prstGeom>
          <a:solidFill>
            <a:srgbClr val="DCD5C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2203" y="1355415"/>
            <a:ext cx="64294" cy="64294"/>
          </a:xfrm>
          <a:prstGeom prst="ellipse">
            <a:avLst/>
          </a:prstGeom>
          <a:solidFill>
            <a:srgbClr val="FFFFFF"/>
          </a:solidFill>
          <a:ln w="21431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3659" y="1148693"/>
            <a:ext cx="4407024" cy="477738"/>
          </a:xfrm>
          <a:prstGeom prst="roundRect">
            <a:avLst>
              <a:gd name="adj" fmla="val 27913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5819" y="1230846"/>
            <a:ext cx="4142705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UU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No. 12 Tahun 2012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835819" y="1414797"/>
            <a:ext cx="4252433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tentang Pendidikan Tinggi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2203" y="2206861"/>
            <a:ext cx="64294" cy="64294"/>
          </a:xfrm>
          <a:prstGeom prst="ellipse">
            <a:avLst/>
          </a:prstGeom>
          <a:solidFill>
            <a:srgbClr val="FFFFFF"/>
          </a:solidFill>
          <a:ln w="21431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46534" y="1918878"/>
            <a:ext cx="4264149" cy="640259"/>
          </a:xfrm>
          <a:prstGeom prst="roundRect">
            <a:avLst>
              <a:gd name="adj" fmla="val 20828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78694" y="2001031"/>
            <a:ext cx="3999830" cy="31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No. 4 Tahun 2014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dan PP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No. 57 Tahun 2021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jo. PP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No. 4 Tahun 2022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978694" y="2347503"/>
            <a:ext cx="4109558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 Nasional Pendidikan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2203" y="3058306"/>
            <a:ext cx="64294" cy="64294"/>
          </a:xfrm>
          <a:prstGeom prst="ellipse">
            <a:avLst/>
          </a:prstGeom>
          <a:solidFill>
            <a:srgbClr val="FFFFFF"/>
          </a:solidFill>
          <a:ln w="21431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89409" y="2851584"/>
            <a:ext cx="4121274" cy="477738"/>
          </a:xfrm>
          <a:prstGeom prst="roundRect">
            <a:avLst>
              <a:gd name="adj" fmla="val 27913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21569" y="2933737"/>
            <a:ext cx="3856955" cy="15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Permendiktisaintek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No. 39 Tahun 2025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23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(Berita Negara 2025 No. 661)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1121569" y="3117689"/>
            <a:ext cx="3856955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menggantikan Permendikbudristek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No. 53 Tahun 2023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2203" y="3925379"/>
            <a:ext cx="78581" cy="78581"/>
          </a:xfrm>
          <a:prstGeom prst="ellipse">
            <a:avLst/>
          </a:prstGeom>
          <a:solidFill>
            <a:srgbClr val="B8912F"/>
          </a:solidFill>
          <a:ln w="21431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8713" y="3618198"/>
            <a:ext cx="3985543" cy="692944"/>
          </a:xfrm>
          <a:prstGeom prst="roundRect">
            <a:avLst>
              <a:gd name="adj" fmla="val 19244"/>
            </a:avLst>
          </a:prstGeom>
          <a:solidFill>
            <a:srgbClr val="F1E7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128713" y="3621770"/>
            <a:ext cx="3985543" cy="0"/>
          </a:xfrm>
          <a:prstGeom prst="line">
            <a:avLst/>
          </a:prstGeom>
          <a:noFill/>
          <a:ln w="7144">
            <a:solidFill>
              <a:srgbClr val="E0CF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10683" y="3618198"/>
            <a:ext cx="0" cy="692944"/>
          </a:xfrm>
          <a:prstGeom prst="line">
            <a:avLst/>
          </a:prstGeom>
          <a:noFill/>
          <a:ln w="7144">
            <a:solidFill>
              <a:srgbClr val="E0CF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8713" y="4307570"/>
            <a:ext cx="3985543" cy="0"/>
          </a:xfrm>
          <a:prstGeom prst="line">
            <a:avLst/>
          </a:prstGeom>
          <a:noFill/>
          <a:ln w="7144">
            <a:solidFill>
              <a:srgbClr val="E0CF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3618198"/>
            <a:ext cx="0" cy="692944"/>
          </a:xfrm>
          <a:prstGeom prst="line">
            <a:avLst/>
          </a:prstGeom>
          <a:noFill/>
          <a:ln w="28575">
            <a:solidFill>
              <a:srgbClr val="B891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5875" y="3711067"/>
            <a:ext cx="3692649" cy="31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PERMENDIKTISAINTEK 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No. 10 Tahun 2026</a:t>
            </a:r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23"/>
              </a:lnSpc>
              <a:buNone/>
            </a:pPr>
            <a:r>
              <a:rPr lang="en-US" sz="800" dirty="0">
                <a:solidFill>
                  <a:srgbClr val="6E54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(Berita Negara 2026 No. 477)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1285875" y="4073165"/>
            <a:ext cx="1468067" cy="145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perubahan atas Permen </a:t>
            </a:r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39/2025</a:t>
            </a:r>
            <a:endParaRPr lang="en-US" sz="703" dirty="0"/>
          </a:p>
        </p:txBody>
      </p:sp>
      <p:sp>
        <p:nvSpPr>
          <p:cNvPr id="26" name="Text 24"/>
          <p:cNvSpPr/>
          <p:nvPr/>
        </p:nvSpPr>
        <p:spPr>
          <a:xfrm>
            <a:off x="2716634" y="4047894"/>
            <a:ext cx="1287438" cy="180023"/>
          </a:xfrm>
          <a:prstGeom prst="roundRect">
            <a:avLst>
              <a:gd name="adj" fmla="val 5285700"/>
            </a:avLst>
          </a:prstGeom>
          <a:solidFill>
            <a:srgbClr val="F1E7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716634" y="4057538"/>
            <a:ext cx="128743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E5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Dokumen utama hari ini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14280" y="1102258"/>
            <a:ext cx="3372408" cy="3251857"/>
          </a:xfrm>
          <a:prstGeom prst="roundRect">
            <a:avLst>
              <a:gd name="adj" fmla="val 4101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00018" y="1259421"/>
            <a:ext cx="3000933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Fakta yang perlu dicatat</a:t>
            </a:r>
            <a:endParaRPr lang="en-US" sz="1181" dirty="0"/>
          </a:p>
        </p:txBody>
      </p:sp>
      <p:sp>
        <p:nvSpPr>
          <p:cNvPr id="30" name="Text 28"/>
          <p:cNvSpPr/>
          <p:nvPr/>
        </p:nvSpPr>
        <p:spPr>
          <a:xfrm>
            <a:off x="5500018" y="1555886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500018" y="2254188"/>
            <a:ext cx="3000933" cy="0"/>
          </a:xfrm>
          <a:prstGeom prst="line">
            <a:avLst/>
          </a:prstGeom>
          <a:noFill/>
          <a:ln w="7144">
            <a:solidFill>
              <a:srgbClr val="F1E7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0018" y="2017105"/>
            <a:ext cx="178951" cy="154930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B891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1875" y="2017105"/>
            <a:ext cx="2783272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Ditetapkan Menteri </a:t>
            </a:r>
            <a:pPr algn="l" indent="0" marL="0">
              <a:lnSpc>
                <a:spcPts val="1221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Brian Yuliarto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 Jakarta, 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F1E7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Juli 2026</a:t>
            </a:r>
            <a:pPr algn="l" indent="0" marL="0">
              <a:lnSpc>
                <a:spcPts val="1221"/>
              </a:lnSpc>
              <a:buNone/>
            </a:pPr>
            <a:r>
              <a:rPr lang="en-US" sz="788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5500018" y="3060985"/>
            <a:ext cx="3000933" cy="0"/>
          </a:xfrm>
          <a:prstGeom prst="line">
            <a:avLst/>
          </a:prstGeom>
          <a:noFill/>
          <a:ln w="7144">
            <a:solidFill>
              <a:srgbClr val="F1E7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0018" y="2668972"/>
            <a:ext cx="178951" cy="309860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B891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711875" y="2668972"/>
            <a:ext cx="27890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Diundangkan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E7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Juli 2026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dan berlaku sejak tanggal diundangkan (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E7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Pasal II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00018" y="3475769"/>
            <a:ext cx="178951" cy="366112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B891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1875" y="3475769"/>
            <a:ext cx="2789076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Berisi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E7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 butir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perubahan (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F1E7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I angka 1–26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), mayoritas menyentuh mekanisme akreditasi BAN-PT/LAM.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482703"/>
            <a:ext cx="8229600" cy="360759"/>
          </a:xfrm>
          <a:prstGeom prst="roundRect">
            <a:avLst>
              <a:gd name="adj" fmla="val 36964"/>
            </a:avLst>
          </a:prstGeom>
          <a:solidFill>
            <a:srgbClr val="F1E7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57200" y="4486275"/>
            <a:ext cx="8229600" cy="0"/>
          </a:xfrm>
          <a:prstGeom prst="line">
            <a:avLst/>
          </a:prstGeom>
          <a:noFill/>
          <a:ln w="7144">
            <a:solidFill>
              <a:srgbClr val="E0CF9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3228" y="4482703"/>
            <a:ext cx="0" cy="360759"/>
          </a:xfrm>
          <a:prstGeom prst="line">
            <a:avLst/>
          </a:prstGeom>
          <a:noFill/>
          <a:ln w="7144">
            <a:solidFill>
              <a:srgbClr val="E0CF9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839891"/>
            <a:ext cx="8229600" cy="0"/>
          </a:xfrm>
          <a:prstGeom prst="line">
            <a:avLst/>
          </a:prstGeom>
          <a:noFill/>
          <a:ln w="7144">
            <a:solidFill>
              <a:srgbClr val="E0CF9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1488" y="4482703"/>
            <a:ext cx="0" cy="360759"/>
          </a:xfrm>
          <a:prstGeom prst="line">
            <a:avLst/>
          </a:prstGeom>
          <a:noFill/>
          <a:ln w="28575">
            <a:solidFill>
              <a:srgbClr val="B8912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8650" y="458450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A6A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547" dirty="0"/>
          </a:p>
        </p:txBody>
      </p:sp>
      <p:sp>
        <p:nvSpPr>
          <p:cNvPr id="45" name="Text 43"/>
          <p:cNvSpPr/>
          <p:nvPr/>
        </p:nvSpPr>
        <p:spPr>
          <a:xfrm>
            <a:off x="885825" y="4582716"/>
            <a:ext cx="765095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Dengan demikian,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sejak pertengahan Juli 2026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seluruh persiapan akreditasi kita berpijak pada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Permen 39/2025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sebagaimana telah diubah.</a:t>
            </a:r>
            <a:endParaRPr lang="en-US" sz="84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7188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65–75 PERMEN 39/2025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6497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Kerangka Besar: SPM Dikti, SPMI, dan SPME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57200" y="923665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87971"/>
            <a:ext cx="4657055" cy="777553"/>
          </a:xfrm>
          <a:prstGeom prst="roundRect">
            <a:avLst>
              <a:gd name="adj" fmla="val 17150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4363" y="1195127"/>
            <a:ext cx="4342730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SPM Dikti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14363" y="1452302"/>
            <a:ext cx="4342730" cy="306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Bidang akademik &amp; nonakademik, diselenggarakan berdasarkan PD Dikti dengan prinsip triangulasi 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F1E7C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(Pasal 65–66)</a:t>
            </a:r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78584" y="1865523"/>
            <a:ext cx="14288" cy="114300"/>
          </a:xfrm>
          <a:prstGeom prst="rect">
            <a:avLst/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21408" y="1979823"/>
            <a:ext cx="2328639" cy="14288"/>
          </a:xfrm>
          <a:prstGeom prst="rect">
            <a:avLst/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21408" y="1979823"/>
            <a:ext cx="14288" cy="114300"/>
          </a:xfrm>
          <a:prstGeom prst="rect">
            <a:avLst/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35760" y="1979823"/>
            <a:ext cx="14288" cy="114300"/>
          </a:xfrm>
          <a:prstGeom prst="rect">
            <a:avLst/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0772" y="2097695"/>
            <a:ext cx="2242803" cy="1868872"/>
          </a:xfrm>
          <a:prstGeom prst="roundRect">
            <a:avLst>
              <a:gd name="adj" fmla="val 7135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2931" y="2208423"/>
            <a:ext cx="1425625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SPMI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2026159" y="2217210"/>
            <a:ext cx="566227" cy="186023"/>
          </a:xfrm>
          <a:prstGeom prst="roundRect">
            <a:avLst>
              <a:gd name="adj" fmla="val 30722"/>
            </a:avLst>
          </a:prstGeom>
          <a:solidFill>
            <a:srgbClr val="F1E7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38529" y="2227176"/>
            <a:ext cx="54148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E54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68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2931" y="2469170"/>
            <a:ext cx="1978484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Siklus </a:t>
            </a:r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PPEPP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Penetapan, Pelaksanaan, Evaluasi, Pengendalian, Peningkatan.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67881" y="2097695"/>
            <a:ext cx="2242803" cy="1868872"/>
          </a:xfrm>
          <a:prstGeom prst="roundRect">
            <a:avLst>
              <a:gd name="adj" fmla="val 7135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00040" y="2208423"/>
            <a:ext cx="1277169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SPME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4282924" y="2217210"/>
            <a:ext cx="718460" cy="186023"/>
          </a:xfrm>
          <a:prstGeom prst="roundRect">
            <a:avLst>
              <a:gd name="adj" fmla="val 30722"/>
            </a:avLst>
          </a:prstGeom>
          <a:solidFill>
            <a:srgbClr val="F1E7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70105" y="2227176"/>
            <a:ext cx="74409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6E54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70–74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00040" y="2469170"/>
            <a:ext cx="1978484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Dilaksanakan melalui Akreditasi oleh </a:t>
            </a:r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BAN-PT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(untuk perguruan tinggi) dan </a:t>
            </a:r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LAM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(untuk program studi).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17852" y="1091543"/>
            <a:ext cx="3365264" cy="2875025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478587" y="1223702"/>
            <a:ext cx="3043796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Empat status akreditasi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478587" y="1502308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478587" y="2091221"/>
            <a:ext cx="3043796" cy="0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55727" y="1683313"/>
            <a:ext cx="1281142" cy="180023"/>
          </a:xfrm>
          <a:prstGeom prst="roundRect">
            <a:avLst>
              <a:gd name="adj" fmla="val 5285700"/>
            </a:avLst>
          </a:prstGeom>
          <a:solidFill>
            <a:srgbClr val="E8E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78587" y="1692957"/>
            <a:ext cx="123542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14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Terakreditasi pertama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78587" y="1896554"/>
            <a:ext cx="3043796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Diberikan sejak izin penyelenggaraan/perindiran — 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76</a:t>
            </a:r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703" dirty="0"/>
          </a:p>
        </p:txBody>
      </p:sp>
      <p:sp>
        <p:nvSpPr>
          <p:cNvPr id="29" name="Shape 27"/>
          <p:cNvSpPr/>
          <p:nvPr/>
        </p:nvSpPr>
        <p:spPr>
          <a:xfrm>
            <a:off x="5478587" y="2647987"/>
            <a:ext cx="3043796" cy="0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55727" y="2240079"/>
            <a:ext cx="865019" cy="180023"/>
          </a:xfrm>
          <a:prstGeom prst="roundRect">
            <a:avLst>
              <a:gd name="adj" fmla="val 5285700"/>
            </a:avLst>
          </a:prstGeom>
          <a:solidFill>
            <a:srgbClr val="E3EF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78587" y="2249723"/>
            <a:ext cx="81929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256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Terakreditasi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78587" y="2453320"/>
            <a:ext cx="3043796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Memenuhi SN Dikti — berlaku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tahun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prodi,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tahun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78587" y="3204753"/>
            <a:ext cx="3043796" cy="0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55727" y="2796845"/>
            <a:ext cx="1229127" cy="180023"/>
          </a:xfrm>
          <a:prstGeom prst="roundRect">
            <a:avLst>
              <a:gd name="adj" fmla="val 5285700"/>
            </a:avLst>
          </a:prstGeom>
          <a:solidFill>
            <a:srgbClr val="F1E7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78587" y="2806489"/>
            <a:ext cx="118340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E5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Terakreditasi Unggul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78587" y="3010086"/>
            <a:ext cx="304379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Melampaui SN Dikti.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55727" y="3353611"/>
            <a:ext cx="1177111" cy="180023"/>
          </a:xfrm>
          <a:prstGeom prst="roundRect">
            <a:avLst>
              <a:gd name="adj" fmla="val 5285700"/>
            </a:avLst>
          </a:prstGeom>
          <a:solidFill>
            <a:srgbClr val="F6E4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78587" y="3363255"/>
            <a:ext cx="113139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A63D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Tidak terakreditasi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78587" y="3566852"/>
            <a:ext cx="30437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Izin dapat dicabut.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4098727"/>
            <a:ext cx="8229600" cy="744736"/>
          </a:xfrm>
          <a:prstGeom prst="roundRect">
            <a:avLst>
              <a:gd name="adj" fmla="val 17906"/>
            </a:avLst>
          </a:prstGeom>
          <a:solidFill>
            <a:srgbClr val="F1E7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57200" y="4102298"/>
            <a:ext cx="8229600" cy="0"/>
          </a:xfrm>
          <a:prstGeom prst="line">
            <a:avLst/>
          </a:prstGeom>
          <a:noFill/>
          <a:ln w="7144">
            <a:solidFill>
              <a:srgbClr val="E0CF9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3228" y="4098727"/>
            <a:ext cx="0" cy="744736"/>
          </a:xfrm>
          <a:prstGeom prst="line">
            <a:avLst/>
          </a:prstGeom>
          <a:noFill/>
          <a:ln w="7144">
            <a:solidFill>
              <a:srgbClr val="E0CF9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839891"/>
            <a:ext cx="8229600" cy="0"/>
          </a:xfrm>
          <a:prstGeom prst="line">
            <a:avLst/>
          </a:prstGeom>
          <a:noFill/>
          <a:ln w="7144">
            <a:solidFill>
              <a:srgbClr val="E0CF9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1488" y="4098727"/>
            <a:ext cx="0" cy="744736"/>
          </a:xfrm>
          <a:prstGeom prst="line">
            <a:avLst/>
          </a:prstGeom>
          <a:noFill/>
          <a:ln w="28575">
            <a:solidFill>
              <a:srgbClr val="B8912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71141" y="4330005"/>
            <a:ext cx="0" cy="282178"/>
          </a:xfrm>
          <a:prstGeom prst="line">
            <a:avLst/>
          </a:prstGeom>
          <a:noFill/>
          <a:ln w="7144">
            <a:solidFill>
              <a:srgbClr val="E0CF9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3072" y="4330005"/>
            <a:ext cx="541487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6E54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70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3453" y="4494312"/>
            <a:ext cx="5007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E541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ayat (4)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417588" y="4205883"/>
            <a:ext cx="7104906" cy="358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“Program studi wajib memiliki status terakreditasi pertama, terakreditasi, atau terakreditasi unggul untuk meluluskan mahasiswa dan menerbitkan ijazah.”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417588" y="4591645"/>
            <a:ext cx="7104906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Artinya status akreditasi bukan pelengkap administratif, melainkan </a:t>
            </a:r>
            <a:pPr algn="l" indent="0" marL="0">
              <a:lnSpc>
                <a:spcPts val="1139"/>
              </a:lnSpc>
              <a:buNone/>
            </a:pPr>
            <a:r>
              <a:rPr lang="en-US" sz="800" b="1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syarat sah ijazah kita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7188"/>
            <a:ext cx="456396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PERBANDINGAN LAMA VS BARU — BAGIAN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6497"/>
            <a:ext cx="4160263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856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Yang Berubah pada Siklus Akreditasi</a:t>
            </a:r>
            <a:endParaRPr lang="en-US" sz="1856" dirty="0"/>
          </a:p>
        </p:txBody>
      </p:sp>
      <p:sp>
        <p:nvSpPr>
          <p:cNvPr id="4" name="Text 2"/>
          <p:cNvSpPr/>
          <p:nvPr/>
        </p:nvSpPr>
        <p:spPr>
          <a:xfrm>
            <a:off x="457200" y="915070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7210" y="723260"/>
            <a:ext cx="819299" cy="180023"/>
          </a:xfrm>
          <a:prstGeom prst="roundRect">
            <a:avLst>
              <a:gd name="adj" fmla="val 5285700"/>
            </a:avLst>
          </a:prstGeom>
          <a:solidFill>
            <a:srgbClr val="F1E7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2250" y="732904"/>
            <a:ext cx="8292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6E54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Lebih longgar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23659" y="723260"/>
            <a:ext cx="663141" cy="180023"/>
          </a:xfrm>
          <a:prstGeom prst="roundRect">
            <a:avLst>
              <a:gd name="adj" fmla="val 5285700"/>
            </a:avLst>
          </a:prstGeom>
          <a:solidFill>
            <a:srgbClr val="E3EF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23659" y="732904"/>
            <a:ext cx="66314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256B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Jalur aman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65088"/>
          <a:ext cx="8229600" cy="914400"/>
        </p:xfrm>
        <a:graphic>
          <a:graphicData uri="http://schemas.openxmlformats.org/drawingml/2006/table">
            <a:tbl>
              <a:tblPr/>
              <a:tblGrid>
                <a:gridCol w="1563588"/>
                <a:gridCol w="3332894"/>
                <a:gridCol w="333311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F1E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F1E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Sebelum (Permen 39/2025)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F1E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Sesudah (Permen 10/2026)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 77 kewajiban akreditasi Jalur aman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B6B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Prodi berstatus terakreditasi pertama wajib mengajukan akreditasi paling lambat 2 tahun setelah beroperasi; bila dinilai tidak memenuhi SN Dikti langsung berstatus tidak terakreditasi.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Tenggat 2 tahun dihitung sejak menerima mahasiswa baru pertama kali; bila belum memenuhi SN Dikti, diberi satu kesempatan mengajukan kembali paling lambat 6 bulan (77 ayat 4). Status tidak terakreditasi baru terjadi bila pengajuan kedua juga gagal.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CE">
                        <a:alpha val="3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 78 perpanjangan status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B6B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Mekanisme perpanjangan ditetapkan BAN-PT sendiri.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BAN-PT atau LAM memperpanjang status melalui mekanisme yang ditetapkan BAN-PT setelah persetujuan Menteri; memanfaatkan data PD Dikti agar beban administratif minimal.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CE">
                        <a:alpha val="3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 79 peningkatan ke unggul Lebih longgar Jalur aman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B6B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Hanya prodi berstatus terakreditasi yang boleh mengajukan peningkatan ke unggul.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Terakreditasi pertama pun boleh langsung mengajukan unggul; bila belum melampaui SN Dikti, tetap diberi status terakreditasi (79 ayat 4) — tidak gagal total.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CE">
                        <a:alpha val="3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 76 terakreditasi pertama Lebih longgar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B6B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Diberikan saat izin penyelenggaraan/pendirian dari Menteri.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Turut mencakup izin perindiran; syarat minimum tetap: kurikulum, rencana pembelajaran, dosen dan tendik, sarana prasarana.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85725" marT="85725" marB="64294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CE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73362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A6A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628650" y="4723805"/>
            <a:ext cx="80581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Masa berlaku status terakreditasi tetap: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tahun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untuk prodi, 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tahun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untuk perguruan tinggi (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77 ayat 3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36000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PERBANDINGAN LAMA VS BARU — BAGIAN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25066"/>
            <a:ext cx="8636000" cy="28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3"/>
              </a:lnSpc>
              <a:buNone/>
            </a:pPr>
            <a:r>
              <a:rPr lang="en-US" sz="1744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Yang Berubah pada Biaya dan Tata Kelola Akreditasi</a:t>
            </a:r>
            <a:endParaRPr lang="en-US" sz="1744" dirty="0"/>
          </a:p>
        </p:txBody>
      </p:sp>
      <p:sp>
        <p:nvSpPr>
          <p:cNvPr id="4" name="Text 2"/>
          <p:cNvSpPr/>
          <p:nvPr/>
        </p:nvSpPr>
        <p:spPr>
          <a:xfrm>
            <a:off x="457200" y="869305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3611"/>
          <a:ext cx="8229600" cy="914400"/>
        </p:xfrm>
        <a:graphic>
          <a:graphicData uri="http://schemas.openxmlformats.org/drawingml/2006/table">
            <a:tbl>
              <a:tblPr/>
              <a:tblGrid>
                <a:gridCol w="1645853"/>
                <a:gridCol w="3291818"/>
                <a:gridCol w="329192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F1E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F1E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Sebelum (Permen 39/2025)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5F1E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Sesudah (Permen 10/2026)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 83A BARU biaya Ringan di kantong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B6B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Belum diatur tersendiri.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Biaya akreditasi pertama prodi yang izinnya dari Menteri ditanggung Kementerian; tarif akreditasi oleh LAM ditetapkan LAM setelah persetujuan Menteri; akreditasi oleh BAN-PT sebesar pengeluaran riil.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CE">
                        <a:alpha val="3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 83B BARU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B6B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Biaya peningkatan ke unggul ditanggung perguruan tinggi (79 lama).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Ditegaskan kembali: biaya status unggul, perpanjangan unggul, dan akreditasi internasional tetap tanggungan perguruan tinggi.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CE">
                        <a:alpha val="3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 84 posisi BAN-PT Pengawasan menguat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B6B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BAN-PT badan independen yang dibentuk Pemerintah.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Dibentuk Menteri; badan nonstruktural di lingkungan Kementerian, bertanggung jawab kepada Menteri, tetap kemandirian dalam melaksanakan akreditasi; sekretariat dikoordinasikan Ditjen Pendidikan Tinggi.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CE">
                        <a:alpha val="3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 88(f) keberatan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B6B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Keberatan atas status diselesaikan BAN-PT/LAM (Pasal 80).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Majelis Akreditasi memutus hasil evaluasi permohonan keberatan atas peringkat akreditasi perguruan tinggi — jalur keberatan makin jelas.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CE">
                        <a:alpha val="3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Pasal 14 &amp; 113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5B6B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Kuliah daring bagian dari tatap muka; LAM eksisting berjalan sendiri.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4273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Kombinasi luring-daring dibebaskan; pendidikan jarak jauh menjadi bentuk tersendiri yang wajib sesuai peraturan khusus (14). LAM yang belum berbadan hukum perkumpulan wajib menyesuaikan paling lambat 16 Juli 2027 (113).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85725" marT="85725" marB="78581" anchor="t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CE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61572" y="-1210866"/>
            <a:ext cx="3350419" cy="3350419"/>
          </a:xfrm>
          <a:prstGeom prst="ellipse">
            <a:avLst/>
          </a:prstGeom>
          <a:noFill/>
          <a:ln w="7144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433072" y="-567928"/>
            <a:ext cx="2135981" cy="2135981"/>
          </a:xfrm>
          <a:prstGeom prst="ellipse">
            <a:avLst/>
          </a:prstGeom>
          <a:noFill/>
          <a:ln w="7144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0125" y="3643313"/>
            <a:ext cx="2857500" cy="28575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-1000125" y="3643313"/>
            <a:ext cx="2857500" cy="2857500"/>
          </a:xfrm>
          <a:prstGeom prst="ellipse">
            <a:avLst/>
          </a:prstGeom>
          <a:solidFill>
            <a:srgbClr val="B8912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457200" y="445591"/>
            <a:ext cx="285750" cy="14288"/>
          </a:xfrm>
          <a:prstGeom prst="rect">
            <a:avLst/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842963" y="385763"/>
            <a:ext cx="78438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spc="155" kern="0" dirty="0">
                <a:solidFill>
                  <a:srgbClr val="B89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INOVASI PALING KRUSIAL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57200" y="605433"/>
            <a:ext cx="785812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 PD Dikti Kini Menentukan Status Akreditasi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460772" y="1137642"/>
            <a:ext cx="4050506" cy="773757"/>
          </a:xfrm>
          <a:prstGeom prst="roundRect">
            <a:avLst>
              <a:gd name="adj" fmla="val 17234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621506" y="12680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8912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3" name="Text 8"/>
          <p:cNvSpPr/>
          <p:nvPr/>
        </p:nvSpPr>
        <p:spPr>
          <a:xfrm>
            <a:off x="821531" y="1262658"/>
            <a:ext cx="3529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B891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78 ayat (2)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621506" y="1459111"/>
            <a:ext cx="3729038" cy="32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9"/>
              </a:lnSpc>
              <a:buNone/>
            </a:pPr>
            <a:r>
              <a:rPr lang="en-US" sz="816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Perpanjangan status terakreditasi memanfaatkan data dan informasi dari PD Dikti untuk meminimalkan beban administratif.</a:t>
            </a:r>
            <a:endParaRPr lang="en-US" sz="816" dirty="0"/>
          </a:p>
        </p:txBody>
      </p:sp>
      <p:sp>
        <p:nvSpPr>
          <p:cNvPr id="15" name="Text 10"/>
          <p:cNvSpPr/>
          <p:nvPr/>
        </p:nvSpPr>
        <p:spPr>
          <a:xfrm>
            <a:off x="4632722" y="1137642"/>
            <a:ext cx="4050506" cy="773757"/>
          </a:xfrm>
          <a:prstGeom prst="roundRect">
            <a:avLst>
              <a:gd name="adj" fmla="val 17234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793456" y="126801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8912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17" name="Text 12"/>
          <p:cNvSpPr/>
          <p:nvPr/>
        </p:nvSpPr>
        <p:spPr>
          <a:xfrm>
            <a:off x="4993481" y="1262658"/>
            <a:ext cx="3529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B891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96 ayat (1) huruf g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4793456" y="1459111"/>
            <a:ext cx="3729038" cy="32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9"/>
              </a:lnSpc>
              <a:buNone/>
            </a:pPr>
            <a:r>
              <a:rPr lang="en-US" sz="816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Dewan Eksekutif BAN-PT memantau data di PD Dikti untuk memastikan akurasi dan kelengkapan data bagi penetapan status akreditasi.</a:t>
            </a:r>
            <a:endParaRPr lang="en-US" sz="816" dirty="0"/>
          </a:p>
        </p:txBody>
      </p:sp>
      <p:sp>
        <p:nvSpPr>
          <p:cNvPr id="19" name="Text 14"/>
          <p:cNvSpPr/>
          <p:nvPr/>
        </p:nvSpPr>
        <p:spPr>
          <a:xfrm>
            <a:off x="460772" y="2032843"/>
            <a:ext cx="4050506" cy="773757"/>
          </a:xfrm>
          <a:prstGeom prst="roundRect">
            <a:avLst>
              <a:gd name="adj" fmla="val 17234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21506" y="21632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8912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1" name="Text 16"/>
          <p:cNvSpPr/>
          <p:nvPr/>
        </p:nvSpPr>
        <p:spPr>
          <a:xfrm>
            <a:off x="821531" y="2157859"/>
            <a:ext cx="3529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B891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104 huruf f1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21506" y="2354312"/>
            <a:ext cx="3729038" cy="32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9"/>
              </a:lnSpc>
              <a:buNone/>
            </a:pPr>
            <a:r>
              <a:rPr lang="en-US" sz="816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LAM pun memantau akurasi dan kelengkapan data PD Dikti untuk penetapan status akreditasi prodi.</a:t>
            </a:r>
            <a:endParaRPr lang="en-US" sz="816" dirty="0"/>
          </a:p>
        </p:txBody>
      </p:sp>
      <p:sp>
        <p:nvSpPr>
          <p:cNvPr id="23" name="Text 18"/>
          <p:cNvSpPr/>
          <p:nvPr/>
        </p:nvSpPr>
        <p:spPr>
          <a:xfrm>
            <a:off x="4632722" y="2032843"/>
            <a:ext cx="4050506" cy="773757"/>
          </a:xfrm>
          <a:prstGeom prst="roundRect">
            <a:avLst>
              <a:gd name="adj" fmla="val 17234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4793456" y="21632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8912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266" dirty="0"/>
          </a:p>
        </p:txBody>
      </p:sp>
      <p:sp>
        <p:nvSpPr>
          <p:cNvPr id="25" name="Text 20"/>
          <p:cNvSpPr/>
          <p:nvPr/>
        </p:nvSpPr>
        <p:spPr>
          <a:xfrm>
            <a:off x="4993481" y="2157859"/>
            <a:ext cx="35290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29" kern="0" dirty="0">
                <a:solidFill>
                  <a:srgbClr val="B891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83 ayat (1)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793456" y="2354312"/>
            <a:ext cx="3729038" cy="32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9"/>
              </a:lnSpc>
              <a:buNone/>
            </a:pPr>
            <a:r>
              <a:rPr lang="en-US" sz="816" dirty="0">
                <a:solidFill>
                  <a:srgbClr val="E8ECF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Pemantauan mutu pada prodi terakreditasi berangkat dari data PD Dikti, pengaduan masyarakat, dan permintaan Kementerian.</a:t>
            </a:r>
            <a:endParaRPr lang="en-US" sz="816" dirty="0"/>
          </a:p>
        </p:txBody>
      </p:sp>
      <p:sp>
        <p:nvSpPr>
          <p:cNvPr id="27" name="Shape 22"/>
          <p:cNvSpPr/>
          <p:nvPr/>
        </p:nvSpPr>
        <p:spPr>
          <a:xfrm>
            <a:off x="457200" y="4263479"/>
            <a:ext cx="8229600" cy="0"/>
          </a:xfrm>
          <a:prstGeom prst="line">
            <a:avLst/>
          </a:prstGeom>
          <a:noFill/>
          <a:ln w="7144">
            <a:solidFill>
              <a:srgbClr val="B8912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440992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B8912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828" dirty="0"/>
          </a:p>
        </p:txBody>
      </p:sp>
      <p:sp>
        <p:nvSpPr>
          <p:cNvPr id="29" name="Text 24"/>
          <p:cNvSpPr/>
          <p:nvPr/>
        </p:nvSpPr>
        <p:spPr>
          <a:xfrm>
            <a:off x="757238" y="4409926"/>
            <a:ext cx="7929563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Asesor tidak hanya membaca berkas saat asesmen — BAN-PT dan LAM menilai kita dari </a:t>
            </a:r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B8912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yang kita unggah setiap hari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yang tertib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berarti jalur perpanjangan status yang ringan; </a:t>
            </a:r>
            <a:pPr algn="l" indent="0" marL="0">
              <a:lnSpc>
                <a:spcPts val="1595"/>
              </a:lnSpc>
              <a:buNone/>
            </a:pPr>
            <a:r>
              <a:rPr lang="en-US" sz="98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yang lompong</a:t>
            </a:r>
            <a:pPr algn="l" indent="0" marL="0">
              <a:lnSpc>
                <a:spcPts val="1595"/>
              </a:lnSpc>
              <a:buNone/>
            </a:pPr>
            <a:r>
              <a:rPr lang="en-US" sz="98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berarti status yang berisiko.</a:t>
            </a:r>
            <a:endParaRPr lang="en-US" sz="9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14325"/>
            <a:ext cx="8636000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PTS AKADEMIK KECIL · 9 PRODI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496491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Enam Tindak Lanjut bagi UNITA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00050" y="868635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3622" y="1050801"/>
            <a:ext cx="4100513" cy="1196355"/>
          </a:xfrm>
          <a:prstGeom prst="roundRect">
            <a:avLst>
              <a:gd name="adj" fmla="val 11146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0069" y="1502532"/>
            <a:ext cx="525780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744" spc="-35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744" dirty="0"/>
          </a:p>
        </p:txBody>
      </p:sp>
      <p:sp>
        <p:nvSpPr>
          <p:cNvPr id="7" name="Text 5"/>
          <p:cNvSpPr/>
          <p:nvPr/>
        </p:nvSpPr>
        <p:spPr>
          <a:xfrm>
            <a:off x="550069" y="1773994"/>
            <a:ext cx="157163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96553" y="1346262"/>
            <a:ext cx="0" cy="605433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7281" y="1346262"/>
            <a:ext cx="3250406" cy="15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28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Tertibkan data PD Dikti</a:t>
            </a:r>
            <a:endParaRPr lang="en-US" sz="928" dirty="0"/>
          </a:p>
        </p:txBody>
      </p:sp>
      <p:sp>
        <p:nvSpPr>
          <p:cNvPr id="10" name="Text 8"/>
          <p:cNvSpPr/>
          <p:nvPr/>
        </p:nvSpPr>
        <p:spPr>
          <a:xfrm>
            <a:off x="1107281" y="1536464"/>
            <a:ext cx="3250406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Tunjuk operator data per prodi; audit akurasi dosen, mahasiswa, lulusan, kurikulum tiap bulan; ini kini bagian dari persiapan akreditasi, bukan pekerjaan sampingan.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9866" y="1050801"/>
            <a:ext cx="4100513" cy="1196355"/>
          </a:xfrm>
          <a:prstGeom prst="roundRect">
            <a:avLst>
              <a:gd name="adj" fmla="val 11146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86313" y="1502532"/>
            <a:ext cx="525780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744" spc="-35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744" dirty="0"/>
          </a:p>
        </p:txBody>
      </p:sp>
      <p:sp>
        <p:nvSpPr>
          <p:cNvPr id="13" name="Text 11"/>
          <p:cNvSpPr/>
          <p:nvPr/>
        </p:nvSpPr>
        <p:spPr>
          <a:xfrm>
            <a:off x="4786313" y="1773994"/>
            <a:ext cx="157163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32797" y="1411895"/>
            <a:ext cx="0" cy="474166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3525" y="1411895"/>
            <a:ext cx="3250406" cy="15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28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Petakan status </a:t>
            </a:r>
            <a:pPr algn="l" indent="0" marL="0">
              <a:lnSpc>
                <a:spcPts val="1160"/>
              </a:lnSpc>
              <a:buNone/>
            </a:pPr>
            <a:r>
              <a:rPr lang="en-US" sz="928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pPr algn="l" indent="0" marL="0">
              <a:lnSpc>
                <a:spcPts val="1160"/>
              </a:lnSpc>
              <a:buNone/>
            </a:pPr>
            <a:r>
              <a:rPr lang="en-US" sz="928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prodi</a:t>
            </a:r>
            <a:endParaRPr lang="en-US" sz="928" dirty="0"/>
          </a:p>
        </p:txBody>
      </p:sp>
      <p:sp>
        <p:nvSpPr>
          <p:cNvPr id="16" name="Text 14"/>
          <p:cNvSpPr/>
          <p:nvPr/>
        </p:nvSpPr>
        <p:spPr>
          <a:xfrm>
            <a:off x="5343525" y="1602098"/>
            <a:ext cx="3250406" cy="283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Susun satu tabel status dan masa berlaku akreditasi seluruh prodi; tandai yang jatuh tempo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2026–2027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sebagai prioritas perpanjangan/peningkatan.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3622" y="2354312"/>
            <a:ext cx="4100513" cy="1196355"/>
          </a:xfrm>
          <a:prstGeom prst="roundRect">
            <a:avLst>
              <a:gd name="adj" fmla="val 11146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0069" y="2806043"/>
            <a:ext cx="525780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744" spc="-35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744" dirty="0"/>
          </a:p>
        </p:txBody>
      </p:sp>
      <p:sp>
        <p:nvSpPr>
          <p:cNvPr id="19" name="Text 17"/>
          <p:cNvSpPr/>
          <p:nvPr/>
        </p:nvSpPr>
        <p:spPr>
          <a:xfrm>
            <a:off x="550069" y="3077505"/>
            <a:ext cx="157163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996553" y="2642629"/>
            <a:ext cx="0" cy="619720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7281" y="2642629"/>
            <a:ext cx="3360134" cy="15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28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Waspadai tenggat prodi baru</a:t>
            </a:r>
            <a:endParaRPr lang="en-US" sz="928" dirty="0"/>
          </a:p>
        </p:txBody>
      </p:sp>
      <p:sp>
        <p:nvSpPr>
          <p:cNvPr id="22" name="Text 20"/>
          <p:cNvSpPr/>
          <p:nvPr/>
        </p:nvSpPr>
        <p:spPr>
          <a:xfrm>
            <a:off x="1107281" y="2832832"/>
            <a:ext cx="3250406" cy="429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Prodi berstatus terakreditasi pertama wajib mengajukan akreditasi paling lambat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tahun sejak menerima mahasiswa baru pertama kali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A6A1C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(Pasal 77)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catat tanggal penerimaannya sejak sekarang.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39866" y="2354312"/>
            <a:ext cx="4100513" cy="1196355"/>
          </a:xfrm>
          <a:prstGeom prst="roundRect">
            <a:avLst>
              <a:gd name="adj" fmla="val 11146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86313" y="2806043"/>
            <a:ext cx="525780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744" spc="-35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744" dirty="0"/>
          </a:p>
        </p:txBody>
      </p:sp>
      <p:sp>
        <p:nvSpPr>
          <p:cNvPr id="25" name="Text 23"/>
          <p:cNvSpPr/>
          <p:nvPr/>
        </p:nvSpPr>
        <p:spPr>
          <a:xfrm>
            <a:off x="4786313" y="3077505"/>
            <a:ext cx="157163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232797" y="2642629"/>
            <a:ext cx="0" cy="619720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3525" y="2642629"/>
            <a:ext cx="3250406" cy="15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28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Kenali jalur aman</a:t>
            </a:r>
            <a:endParaRPr lang="en-US" sz="928" dirty="0"/>
          </a:p>
        </p:txBody>
      </p:sp>
      <p:sp>
        <p:nvSpPr>
          <p:cNvPr id="28" name="Text 26"/>
          <p:cNvSpPr/>
          <p:nvPr/>
        </p:nvSpPr>
        <p:spPr>
          <a:xfrm>
            <a:off x="5343525" y="2832832"/>
            <a:ext cx="3250406" cy="429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Bila hasil akreditasi belum memenuhi SN Dikti, ada kesempatan perbaikan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bulan; bila peringkat di bawah harapan, jalur keberatan ke Majelis Akreditasi tersedia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A6A1C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(Pasal 80 jo. 88 huruf f)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3622" y="3657823"/>
            <a:ext cx="4100513" cy="1196355"/>
          </a:xfrm>
          <a:prstGeom prst="roundRect">
            <a:avLst>
              <a:gd name="adj" fmla="val 11146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0069" y="4109554"/>
            <a:ext cx="525780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744" spc="-35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744" dirty="0"/>
          </a:p>
        </p:txBody>
      </p:sp>
      <p:sp>
        <p:nvSpPr>
          <p:cNvPr id="31" name="Text 29"/>
          <p:cNvSpPr/>
          <p:nvPr/>
        </p:nvSpPr>
        <p:spPr>
          <a:xfrm>
            <a:off x="550069" y="4381016"/>
            <a:ext cx="157163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996553" y="4018917"/>
            <a:ext cx="0" cy="474166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7281" y="4018917"/>
            <a:ext cx="3250406" cy="15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28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Disiplin bentuk kelas</a:t>
            </a:r>
            <a:endParaRPr lang="en-US" sz="928" dirty="0"/>
          </a:p>
        </p:txBody>
      </p:sp>
      <p:sp>
        <p:nvSpPr>
          <p:cNvPr id="34" name="Text 32"/>
          <p:cNvSpPr/>
          <p:nvPr/>
        </p:nvSpPr>
        <p:spPr>
          <a:xfrm>
            <a:off x="1107281" y="4209120"/>
            <a:ext cx="3250406" cy="283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Kuliah kombinasi luring-daring boleh sebagai tatap muka; pendidikan jarak jauh adalah izin tersendiri, jangan buka tanpa izin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A6A1C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(Pasal 14)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39866" y="3657823"/>
            <a:ext cx="4100513" cy="1196355"/>
          </a:xfrm>
          <a:prstGeom prst="roundRect">
            <a:avLst>
              <a:gd name="adj" fmla="val 11146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86313" y="4109554"/>
            <a:ext cx="525780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744" spc="-35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744" dirty="0"/>
          </a:p>
        </p:txBody>
      </p:sp>
      <p:sp>
        <p:nvSpPr>
          <p:cNvPr id="37" name="Text 35"/>
          <p:cNvSpPr/>
          <p:nvPr/>
        </p:nvSpPr>
        <p:spPr>
          <a:xfrm>
            <a:off x="4786313" y="4381016"/>
            <a:ext cx="157163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5232797" y="3949712"/>
            <a:ext cx="0" cy="612577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3525" y="3949712"/>
            <a:ext cx="3250406" cy="15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928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Anggarkan biaya unggul</a:t>
            </a:r>
            <a:endParaRPr lang="en-US" sz="928" dirty="0"/>
          </a:p>
        </p:txBody>
      </p:sp>
      <p:sp>
        <p:nvSpPr>
          <p:cNvPr id="40" name="Text 38"/>
          <p:cNvSpPr/>
          <p:nvPr/>
        </p:nvSpPr>
        <p:spPr>
          <a:xfrm>
            <a:off x="5343525" y="4139915"/>
            <a:ext cx="3250406" cy="42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Biaya peningkatan dan perpanjangan status unggul tetap tanggungan perguruan tinggi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8A6A1C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(Pasal 83B)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masukkan ke RAB akreditasi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2027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14273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sementara akreditasi pertama prodi baru kini dibebaskan.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8636000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A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 IAPT 4.1 — PERATURAN BAN-PT NO. 35/2025 (PTS AKADEMIK)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467916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Poin Penting Menuju Terakreditasi Unggul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00050" y="832917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982935"/>
            <a:ext cx="2400300" cy="655439"/>
          </a:xfrm>
          <a:prstGeom prst="roundRect">
            <a:avLst>
              <a:gd name="adj" fmla="val 203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986507"/>
            <a:ext cx="2400300" cy="0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96778" y="982935"/>
            <a:ext cx="0" cy="655439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0050" y="1634803"/>
            <a:ext cx="2400300" cy="0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0766" y="982935"/>
            <a:ext cx="0" cy="655439"/>
          </a:xfrm>
          <a:prstGeom prst="line">
            <a:avLst/>
          </a:prstGeom>
          <a:noFill/>
          <a:ln w="21431">
            <a:solidFill>
              <a:srgbClr val="B891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781" y="1090092"/>
            <a:ext cx="2143125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75 AYAT (2)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5781" y="1252612"/>
            <a:ext cx="21431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Instrumen akreditasi disusun mengutamakan standar luaran.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0050" y="1724099"/>
            <a:ext cx="2400300" cy="516136"/>
          </a:xfrm>
          <a:prstGeom prst="roundRect">
            <a:avLst>
              <a:gd name="adj" fmla="val 258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1727671"/>
            <a:ext cx="2400300" cy="0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6778" y="1724099"/>
            <a:ext cx="0" cy="516136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" y="2236663"/>
            <a:ext cx="2400300" cy="0"/>
          </a:xfrm>
          <a:prstGeom prst="line">
            <a:avLst/>
          </a:prstGeom>
          <a:noFill/>
          <a:ln w="7144">
            <a:solidFill>
              <a:srgbClr val="DCD5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0766" y="1724099"/>
            <a:ext cx="0" cy="516136"/>
          </a:xfrm>
          <a:prstGeom prst="line">
            <a:avLst/>
          </a:prstGeom>
          <a:noFill/>
          <a:ln w="21431">
            <a:solidFill>
              <a:srgbClr val="B891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781" y="1831256"/>
            <a:ext cx="2143125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PASAL 73 AYAT (8)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5781" y="1993776"/>
            <a:ext cx="225285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Kriteria melampaui SN Dikti ditetapkan BAN-PT.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400050" y="2325960"/>
            <a:ext cx="2400300" cy="1551310"/>
          </a:xfrm>
          <a:prstGeom prst="roundRect">
            <a:avLst>
              <a:gd name="adj" fmla="val 8596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10766" y="2325960"/>
            <a:ext cx="0" cy="1551310"/>
          </a:xfrm>
          <a:prstGeom prst="line">
            <a:avLst/>
          </a:prstGeom>
          <a:noFill/>
          <a:ln w="21431">
            <a:solidFill>
              <a:srgbClr val="B891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069" y="2878373"/>
            <a:ext cx="200025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0069" y="2971242"/>
            <a:ext cx="2121694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F5F1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Maka bekal utama kita adalah 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7C963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 luaran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F5F1E6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yang kuat.</a:t>
            </a:r>
            <a:endParaRPr lang="en-US" sz="928" dirty="0"/>
          </a:p>
        </p:txBody>
      </p:sp>
      <p:sp>
        <p:nvSpPr>
          <p:cNvPr id="23" name="Text 21"/>
          <p:cNvSpPr/>
          <p:nvPr/>
        </p:nvSpPr>
        <p:spPr>
          <a:xfrm>
            <a:off x="2932509" y="986507"/>
            <a:ext cx="5807869" cy="1729904"/>
          </a:xfrm>
          <a:prstGeom prst="roundRect">
            <a:avLst>
              <a:gd name="adj" fmla="val 7709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93244" y="1446051"/>
            <a:ext cx="1920240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spc="-98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</a:t>
            </a:r>
            <a:endParaRPr lang="en-US" sz="3263" dirty="0"/>
          </a:p>
        </p:txBody>
      </p:sp>
      <p:sp>
        <p:nvSpPr>
          <p:cNvPr id="25" name="Text 23"/>
          <p:cNvSpPr/>
          <p:nvPr/>
        </p:nvSpPr>
        <p:spPr>
          <a:xfrm>
            <a:off x="3093244" y="1903251"/>
            <a:ext cx="1536192" cy="19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butir LED</a:t>
            </a:r>
            <a:endParaRPr lang="en-US" sz="1069" dirty="0"/>
          </a:p>
        </p:txBody>
      </p:sp>
      <p:sp>
        <p:nvSpPr>
          <p:cNvPr id="26" name="Text 24"/>
          <p:cNvSpPr/>
          <p:nvPr/>
        </p:nvSpPr>
        <p:spPr>
          <a:xfrm>
            <a:off x="3093244" y="2128279"/>
            <a:ext cx="14065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dalam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kriteria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36269" y="1104379"/>
            <a:ext cx="7144" cy="1494160"/>
          </a:xfrm>
          <a:prstGeom prst="rect">
            <a:avLst/>
          </a:prstGeom>
          <a:solidFill>
            <a:srgbClr val="DCD5C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86288" y="1291568"/>
            <a:ext cx="1893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K.1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Budaya Mutu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72200" y="1320143"/>
            <a:ext cx="2150269" cy="71438"/>
          </a:xfrm>
          <a:prstGeom prst="roundRect">
            <a:avLst>
              <a:gd name="adj" fmla="val 1319991"/>
            </a:avLst>
          </a:prstGeom>
          <a:solidFill>
            <a:srgbClr val="E8E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82464" y="1288889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86288" y="1489807"/>
            <a:ext cx="16356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K.2.1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Relevansi Pendidikan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72200" y="1518382"/>
            <a:ext cx="2150269" cy="71438"/>
          </a:xfrm>
          <a:prstGeom prst="roundRect">
            <a:avLst>
              <a:gd name="adj" fmla="val 1319991"/>
            </a:avLst>
          </a:prstGeom>
          <a:solidFill>
            <a:srgbClr val="E8E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282464" y="1487128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86288" y="1688046"/>
            <a:ext cx="16356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K.2.2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Relevansi Penelitian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72200" y="1716621"/>
            <a:ext cx="2150269" cy="71438"/>
          </a:xfrm>
          <a:prstGeom prst="roundRect">
            <a:avLst>
              <a:gd name="adj" fmla="val 1319991"/>
            </a:avLst>
          </a:prstGeom>
          <a:solidFill>
            <a:srgbClr val="E8E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282464" y="1685367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86288" y="1886285"/>
            <a:ext cx="1893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K.2.3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Relevansi PkM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72200" y="1914860"/>
            <a:ext cx="2150269" cy="71438"/>
          </a:xfrm>
          <a:prstGeom prst="roundRect">
            <a:avLst>
              <a:gd name="adj" fmla="val 1319991"/>
            </a:avLst>
          </a:prstGeom>
          <a:solidFill>
            <a:srgbClr val="E8E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282464" y="1883606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86288" y="2084524"/>
            <a:ext cx="1893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K.3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Akuntabilitas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72200" y="2113099"/>
            <a:ext cx="2150269" cy="71438"/>
          </a:xfrm>
          <a:prstGeom prst="roundRect">
            <a:avLst>
              <a:gd name="adj" fmla="val 1319991"/>
            </a:avLst>
          </a:prstGeom>
          <a:solidFill>
            <a:srgbClr val="E8E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282464" y="2081845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86288" y="2282763"/>
            <a:ext cx="18930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K.4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Diferensiasi Misi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72200" y="2311338"/>
            <a:ext cx="2150269" cy="71438"/>
          </a:xfrm>
          <a:prstGeom prst="roundRect">
            <a:avLst>
              <a:gd name="adj" fmla="val 1319991"/>
            </a:avLst>
          </a:prstGeom>
          <a:solidFill>
            <a:srgbClr val="E8E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282464" y="2280084"/>
            <a:ext cx="2971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932509" y="2809280"/>
            <a:ext cx="1652662" cy="1064419"/>
          </a:xfrm>
          <a:prstGeom prst="roundRect">
            <a:avLst>
              <a:gd name="adj" fmla="val 12528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050381" y="3145036"/>
            <a:ext cx="412909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endParaRPr lang="en-US" sz="1688" dirty="0"/>
          </a:p>
        </p:txBody>
      </p:sp>
      <p:sp>
        <p:nvSpPr>
          <p:cNvPr id="48" name="Text 46"/>
          <p:cNvSpPr/>
          <p:nvPr/>
        </p:nvSpPr>
        <p:spPr>
          <a:xfrm>
            <a:off x="3372743" y="3223617"/>
            <a:ext cx="1094556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tabel LKPT</a:t>
            </a:r>
            <a:endParaRPr lang="en-US" sz="816" dirty="0"/>
          </a:p>
        </p:txBody>
      </p:sp>
      <p:sp>
        <p:nvSpPr>
          <p:cNvPr id="49" name="Text 47"/>
          <p:cNvSpPr/>
          <p:nvPr/>
        </p:nvSpPr>
        <p:spPr>
          <a:xfrm>
            <a:off x="3050381" y="3409355"/>
            <a:ext cx="14169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bersumber PD Dikti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78040" y="2809280"/>
            <a:ext cx="2316696" cy="1064419"/>
          </a:xfrm>
          <a:prstGeom prst="roundRect">
            <a:avLst>
              <a:gd name="adj" fmla="val 12528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95912" y="2954499"/>
            <a:ext cx="20645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1688" dirty="0"/>
          </a:p>
        </p:txBody>
      </p:sp>
      <p:sp>
        <p:nvSpPr>
          <p:cNvPr id="52" name="Text 50"/>
          <p:cNvSpPr/>
          <p:nvPr/>
        </p:nvSpPr>
        <p:spPr>
          <a:xfrm>
            <a:off x="4989240" y="3033080"/>
            <a:ext cx="1887624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butir Syarat Perlu Unggul</a:t>
            </a:r>
            <a:endParaRPr lang="en-US" sz="816" dirty="0"/>
          </a:p>
        </p:txBody>
      </p:sp>
      <p:sp>
        <p:nvSpPr>
          <p:cNvPr id="53" name="Text 51"/>
          <p:cNvSpPr/>
          <p:nvPr/>
        </p:nvSpPr>
        <p:spPr>
          <a:xfrm>
            <a:off x="4795912" y="3211674"/>
            <a:ext cx="2080952" cy="251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butir 01 · 02 · 04 · 7A · 11 · 35 · 36A · 39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95912" y="3490280"/>
            <a:ext cx="2080952" cy="2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A63D4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satu saja gagal, status Unggul gugur berapa pun skor total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87605" y="2809280"/>
            <a:ext cx="1652662" cy="1064419"/>
          </a:xfrm>
          <a:prstGeom prst="roundRect">
            <a:avLst>
              <a:gd name="adj" fmla="val 12528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205476" y="3095030"/>
            <a:ext cx="61936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80%</a:t>
            </a:r>
            <a:endParaRPr lang="en-US" sz="1688" dirty="0"/>
          </a:p>
        </p:txBody>
      </p:sp>
      <p:sp>
        <p:nvSpPr>
          <p:cNvPr id="57" name="Text 55"/>
          <p:cNvSpPr/>
          <p:nvPr/>
        </p:nvSpPr>
        <p:spPr>
          <a:xfrm>
            <a:off x="7656872" y="3173611"/>
            <a:ext cx="965522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16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Ambang simulasi</a:t>
            </a:r>
            <a:endParaRPr lang="en-US" sz="816" dirty="0"/>
          </a:p>
        </p:txBody>
      </p:sp>
      <p:sp>
        <p:nvSpPr>
          <p:cNvPr id="58" name="Text 56"/>
          <p:cNvSpPr/>
          <p:nvPr/>
        </p:nvSpPr>
        <p:spPr>
          <a:xfrm>
            <a:off x="7205476" y="3366492"/>
            <a:ext cx="1416918" cy="57150"/>
          </a:xfrm>
          <a:prstGeom prst="roundRect">
            <a:avLst>
              <a:gd name="adj" fmla="val 1650000"/>
            </a:avLst>
          </a:prstGeom>
          <a:solidFill>
            <a:srgbClr val="E8EC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205476" y="3366492"/>
            <a:ext cx="1133512" cy="57150"/>
          </a:xfrm>
          <a:prstGeom prst="rect">
            <a:avLst/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205476" y="3480792"/>
            <a:ext cx="12735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460921" y="3480792"/>
            <a:ext cx="19391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5B6B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403622" y="3980855"/>
            <a:ext cx="8336756" cy="657225"/>
          </a:xfrm>
          <a:prstGeom prst="roundRect">
            <a:avLst>
              <a:gd name="adj" fmla="val 20290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50069" y="4077295"/>
            <a:ext cx="8153590" cy="15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A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TIGA SYARAT KELULUSAN BUTIR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50069" y="4266605"/>
            <a:ext cx="142875" cy="142875"/>
          </a:xfrm>
          <a:prstGeom prst="roundRect">
            <a:avLst>
              <a:gd name="adj" fmla="val 33333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50069" y="4266605"/>
            <a:ext cx="1785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F1E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64381" y="4259461"/>
            <a:ext cx="214524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Narasi menjawab seluruh pertanyaan kunci dengan angka, tahun, dan nama dokumen.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038215" y="4266605"/>
            <a:ext cx="142875" cy="142875"/>
          </a:xfrm>
          <a:prstGeom prst="roundRect">
            <a:avLst>
              <a:gd name="adj" fmla="val 33333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038215" y="4266605"/>
            <a:ext cx="1785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F1E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252527" y="4259461"/>
            <a:ext cx="249919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Bukti berupa dokumen resmi bertanda tangan/SK yang tautannya dapat dibuka asesor tanpa login.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880311" y="4266605"/>
            <a:ext cx="142875" cy="142875"/>
          </a:xfrm>
          <a:prstGeom prst="roundRect">
            <a:avLst>
              <a:gd name="adj" fmla="val 33333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880311" y="4266605"/>
            <a:ext cx="17859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5F1E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094623" y="4259461"/>
            <a:ext cx="2499196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14273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Setiap butir menunjukkan siklus PPEPP yang utuh — evaluasi, tindak lanjut, hasil yang membaik.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00050" y="4735413"/>
            <a:ext cx="21431" cy="157163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07206" y="4727377"/>
            <a:ext cx="8236744" cy="187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Lembar kerja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butir kita sengaja disusun mengikuti logika ini — tinggal diisi, diberi bukti, dan diberi tanggal.</a:t>
            </a:r>
            <a:endParaRPr lang="en-US" sz="87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14325"/>
            <a:ext cx="86360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OKTOBER 2026 — TAHAP 2027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496491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Peta Jalan Persiapan Akreditasi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00050" y="868635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43075" y="1811275"/>
            <a:ext cx="5657850" cy="14288"/>
          </a:xfrm>
          <a:prstGeom prst="rect">
            <a:avLst/>
          </a:prstGeom>
          <a:solidFill>
            <a:srgbClr val="B8912F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96641" y="1771985"/>
            <a:ext cx="92869" cy="92869"/>
          </a:xfrm>
          <a:prstGeom prst="ellipse">
            <a:avLst/>
          </a:prstGeom>
          <a:solidFill>
            <a:srgbClr val="B8912F"/>
          </a:solidFill>
          <a:ln w="21431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25566" y="1771985"/>
            <a:ext cx="92869" cy="92869"/>
          </a:xfrm>
          <a:prstGeom prst="ellipse">
            <a:avLst/>
          </a:prstGeom>
          <a:solidFill>
            <a:srgbClr val="FDFCF9"/>
          </a:solidFill>
          <a:ln w="21431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54491" y="1771985"/>
            <a:ext cx="92869" cy="92869"/>
          </a:xfrm>
          <a:prstGeom prst="ellipse">
            <a:avLst/>
          </a:prstGeom>
          <a:solidFill>
            <a:srgbClr val="FDFCF9"/>
          </a:solidFill>
          <a:ln w="21431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3622" y="1993441"/>
            <a:ext cx="2678906" cy="1675209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5781" y="2132744"/>
            <a:ext cx="16753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02530" y="2101669"/>
            <a:ext cx="770699" cy="180023"/>
          </a:xfrm>
          <a:prstGeom prst="roundRect">
            <a:avLst>
              <a:gd name="adj" fmla="val 5285700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78665" y="2111313"/>
            <a:ext cx="81842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5F1E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Okt–Nov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5781" y="2336341"/>
            <a:ext cx="24145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Tertib Data &amp; Pemetaan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35781" y="2586372"/>
            <a:ext cx="2414588" cy="7144"/>
          </a:xfrm>
          <a:prstGeom prst="rect">
            <a:avLst/>
          </a:prstGeom>
          <a:solidFill>
            <a:srgbClr val="DCD5C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5781" y="2679241"/>
            <a:ext cx="2414588" cy="90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dan perbaikan data PD Dikti seluruh prodi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Rekap status dan masa berlaku akreditasi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prodi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Penetapan target status per prodi bersama rektorat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32547" y="1993441"/>
            <a:ext cx="2678906" cy="1675209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64706" y="2132744"/>
            <a:ext cx="14387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94930" y="2101669"/>
            <a:ext cx="1007224" cy="180023"/>
          </a:xfrm>
          <a:prstGeom prst="roundRect">
            <a:avLst>
              <a:gd name="adj" fmla="val 5285700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7790" y="2111313"/>
            <a:ext cx="96150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5F1E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Des 2026–Feb 2027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64706" y="2336341"/>
            <a:ext cx="24145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Penguatan Bukti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3364706" y="2586372"/>
            <a:ext cx="2414588" cy="7144"/>
          </a:xfrm>
          <a:prstGeom prst="rect">
            <a:avLst/>
          </a:prstGeom>
          <a:solidFill>
            <a:srgbClr val="DCD5C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64706" y="2679241"/>
            <a:ext cx="2414588" cy="90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Penuhi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butir Syarat Perlu Unggul terlebih dahulu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Lengkapi narasi dan tautan bukti pada lembar kerja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butir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Jalankan AMI dan tindak lanjut temuannya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61472" y="1993441"/>
            <a:ext cx="2678906" cy="1675209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93631" y="2132744"/>
            <a:ext cx="16281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8A6A1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FASE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13164" y="2101669"/>
            <a:ext cx="817915" cy="180023"/>
          </a:xfrm>
          <a:prstGeom prst="roundRect">
            <a:avLst>
              <a:gd name="adj" fmla="val 5285700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802117" y="2111313"/>
            <a:ext cx="84000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5F1E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Mar 2027 dst.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93631" y="2336341"/>
            <a:ext cx="241458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Uji dan Ajukan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193631" y="2586372"/>
            <a:ext cx="2414588" cy="7144"/>
          </a:xfrm>
          <a:prstGeom prst="rect">
            <a:avLst/>
          </a:prstGeom>
          <a:solidFill>
            <a:srgbClr val="DCD5C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93631" y="2679241"/>
            <a:ext cx="2414588" cy="908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Dry-run internal per prodi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Penyempurnaan dokumen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Pengajuan sesuai jadwal BAN-PT/LAM dengan memanfaatkan mekanisme perpanjangan berbasis data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3622" y="4546997"/>
            <a:ext cx="8336756" cy="307181"/>
          </a:xfrm>
          <a:prstGeom prst="roundRect">
            <a:avLst>
              <a:gd name="adj" fmla="val 43411"/>
            </a:avLst>
          </a:prstGeom>
          <a:solidFill>
            <a:srgbClr val="F1E7CE"/>
          </a:solidFill>
          <a:ln w="7144">
            <a:solidFill>
              <a:srgbClr val="E0CF9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5781" y="462915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A6A1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32" name="Text 30"/>
          <p:cNvSpPr/>
          <p:nvPr/>
        </p:nvSpPr>
        <p:spPr>
          <a:xfrm>
            <a:off x="757238" y="4630936"/>
            <a:ext cx="7850981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Tenggat yang mengikat sekaligus: LAM menyesuaikan badan hukum paling lambat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Juli 2027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(Pasal 113)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14325"/>
            <a:ext cx="86360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8A6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PEMBAGIAN PERAN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00050" y="496491"/>
            <a:ext cx="8636000" cy="30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Siapa Mengerjakan Apa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00050" y="868635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3622" y="1050801"/>
            <a:ext cx="2697882" cy="1840967"/>
          </a:xfrm>
          <a:prstGeom prst="roundRect">
            <a:avLst>
              <a:gd name="adj" fmla="val 7243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5781" y="1552426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0784" y="157742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1E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871538" y="1608125"/>
            <a:ext cx="2097807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Rektorat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535781" y="1888182"/>
            <a:ext cx="2433563" cy="5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Menetapkan kebijakan dan target status per prodi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Menganggarkan biaya peningkatan unggul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Memutuskan pemakaian jalur keberatan bila diperlukan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22947" y="1050801"/>
            <a:ext cx="2697993" cy="1840967"/>
          </a:xfrm>
          <a:prstGeom prst="roundRect">
            <a:avLst>
              <a:gd name="adj" fmla="val 7243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55107" y="1485454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80110" y="151045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1E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3690863" y="1541152"/>
            <a:ext cx="2097918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LPM/PPM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3355107" y="1821210"/>
            <a:ext cx="2433675" cy="67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Mengoordinasikan SPMI dan AMI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Memelihara lembar kerja 65 butir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Memantau kemajuan tiap prodi mingguan dan melaporkan ke rektorat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42385" y="1050801"/>
            <a:ext cx="2697882" cy="1840967"/>
          </a:xfrm>
          <a:prstGeom prst="roundRect">
            <a:avLst>
              <a:gd name="adj" fmla="val 7243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74544" y="1485454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99547" y="151045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1E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6510300" y="1537581"/>
            <a:ext cx="2097807" cy="16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Kaprodi (</a:t>
            </a:r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4273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prodi)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6174544" y="1821210"/>
            <a:ext cx="2433563" cy="67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Bertanggung jawab penuh atas kelengkapan LED dan LKPT prodi masing-masing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Memvalidasi data PD Dikti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Memastikan setiap butir punya narasi dan bukti sah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3622" y="3013211"/>
            <a:ext cx="2697882" cy="1840967"/>
          </a:xfrm>
          <a:prstGeom prst="roundRect">
            <a:avLst>
              <a:gd name="adj" fmla="val 7243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5781" y="3472867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0784" y="349787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1E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871538" y="3528566"/>
            <a:ext cx="2097807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Operator PD Dikti</a:t>
            </a:r>
            <a:endParaRPr lang="en-US" sz="956" dirty="0"/>
          </a:p>
        </p:txBody>
      </p:sp>
      <p:sp>
        <p:nvSpPr>
          <p:cNvPr id="24" name="Text 22"/>
          <p:cNvSpPr/>
          <p:nvPr/>
        </p:nvSpPr>
        <p:spPr>
          <a:xfrm>
            <a:off x="535781" y="3808623"/>
            <a:ext cx="2433563" cy="620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Menyinkronkan data dosen, mahasiswa, dan lulusan secara rutin bulanan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Melaporkan lomongan data sebelum menjadi temuan asesor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22947" y="3013211"/>
            <a:ext cx="2697993" cy="1840967"/>
          </a:xfrm>
          <a:prstGeom prst="roundRect">
            <a:avLst>
              <a:gd name="adj" fmla="val 7243"/>
            </a:avLst>
          </a:prstGeom>
          <a:solidFill>
            <a:srgbClr val="FFFFFF"/>
          </a:solidFill>
          <a:ln w="7144">
            <a:solidFill>
              <a:srgbClr val="DCD5C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55107" y="3514837"/>
            <a:ext cx="257175" cy="257175"/>
          </a:xfrm>
          <a:prstGeom prst="roundRect">
            <a:avLst>
              <a:gd name="adj" fmla="val 33333"/>
            </a:avLst>
          </a:prstGeom>
          <a:solidFill>
            <a:srgbClr val="1427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80110" y="353984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5F1E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3690863" y="3570536"/>
            <a:ext cx="2097918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Tim Ad-hoc Akreditasi</a:t>
            </a:r>
            <a:endParaRPr lang="en-US" sz="956" dirty="0"/>
          </a:p>
        </p:txBody>
      </p:sp>
      <p:sp>
        <p:nvSpPr>
          <p:cNvPr id="29" name="Text 27"/>
          <p:cNvSpPr/>
          <p:nvPr/>
        </p:nvSpPr>
        <p:spPr>
          <a:xfrm>
            <a:off x="3355107" y="3850593"/>
            <a:ext cx="2433675" cy="5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Menyiapkan dokumen persyaratan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Memandu dry-run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14273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Menjaga jadwal pengajuan per prodi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42385" y="3013211"/>
            <a:ext cx="2697882" cy="1840967"/>
          </a:xfrm>
          <a:prstGeom prst="roundRect">
            <a:avLst>
              <a:gd name="adj" fmla="val 7243"/>
            </a:avLst>
          </a:prstGeom>
          <a:solidFill>
            <a:srgbClr val="F1E7CE"/>
          </a:solidFill>
          <a:ln w="7144">
            <a:solidFill>
              <a:srgbClr val="E0CF9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03119" y="3607594"/>
            <a:ext cx="23764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14273F">
                    <a:alpha val="7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SATU PRINSIP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03119" y="3796903"/>
            <a:ext cx="200025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03119" y="3889772"/>
            <a:ext cx="2376413" cy="399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7"/>
              </a:lnSpc>
              <a:buNone/>
            </a:pPr>
            <a:r>
              <a:rPr lang="en-US" sz="1041" dirty="0">
                <a:solidFill>
                  <a:srgbClr val="14273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Setiap butir punya pemilik, setiap data punya penjaga.</a:t>
            </a:r>
            <a:endParaRPr lang="en-US" sz="104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2672541367-x84jes.png">    </p:cNvPr>
          <p:cNvPicPr>
            <a:picLocks noChangeAspect="1"/>
          </p:cNvPicPr>
          <p:nvPr/>
        </p:nvPicPr>
        <p:blipFill>
          <a:blip r:embed="rId1">
            <a:alphaModFix amt="1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0734" y="160734"/>
            <a:ext cx="8822531" cy="4822031"/>
          </a:xfrm>
          <a:prstGeom prst="roundRect">
            <a:avLst>
              <a:gd name="adj" fmla="val 1580"/>
            </a:avLst>
          </a:prstGeom>
          <a:noFill/>
          <a:ln w="7144">
            <a:solidFill>
              <a:srgbClr val="B8912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3710770" y="1479649"/>
            <a:ext cx="17223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03" kern="0" dirty="0">
                <a:solidFill>
                  <a:srgbClr val="B891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KOMITMEN BERSAMA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274320" y="1765399"/>
            <a:ext cx="8595248" cy="749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34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Regulasi barunya memberi peluang —</a:t>
            </a:r>
            <a:endParaRPr lang="en-US" sz="2025" dirty="0"/>
          </a:p>
          <a:p>
            <a:pPr algn="ctr" indent="0" marL="0">
              <a:lnSpc>
                <a:spcPts val="2734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 yang tertib hari ini adalah akreditasi yang aman esok.</a:t>
            </a:r>
            <a:endParaRPr lang="en-US" sz="2025" dirty="0"/>
          </a:p>
        </p:txBody>
      </p:sp>
      <p:sp>
        <p:nvSpPr>
          <p:cNvPr id="7" name="Text 3"/>
          <p:cNvSpPr/>
          <p:nvPr/>
        </p:nvSpPr>
        <p:spPr>
          <a:xfrm>
            <a:off x="4343400" y="2645420"/>
            <a:ext cx="457200" cy="21431"/>
          </a:xfrm>
          <a:prstGeom prst="roundRect">
            <a:avLst>
              <a:gd name="adj" fmla="val 88890"/>
            </a:avLst>
          </a:prstGeom>
          <a:solidFill>
            <a:srgbClr val="B891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685590" y="2899023"/>
            <a:ext cx="1609688" cy="332631"/>
          </a:xfrm>
          <a:prstGeom prst="roundRect">
            <a:avLst>
              <a:gd name="adj" fmla="val 28635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5F1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832037" y="2997473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9B4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10" name="Text 6"/>
          <p:cNvSpPr/>
          <p:nvPr/>
        </p:nvSpPr>
        <p:spPr>
          <a:xfrm>
            <a:off x="1928243" y="2995464"/>
            <a:ext cx="1220588" cy="139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F5F1E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PD Dikti yang akurat</a:t>
            </a:r>
            <a:endParaRPr lang="en-US" sz="759" dirty="0"/>
          </a:p>
        </p:txBody>
      </p:sp>
      <p:sp>
        <p:nvSpPr>
          <p:cNvPr id="11" name="Text 7"/>
          <p:cNvSpPr/>
          <p:nvPr/>
        </p:nvSpPr>
        <p:spPr>
          <a:xfrm>
            <a:off x="3402434" y="2899023"/>
            <a:ext cx="2392598" cy="332631"/>
          </a:xfrm>
          <a:prstGeom prst="roundRect">
            <a:avLst>
              <a:gd name="adj" fmla="val 28635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5F1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548881" y="2997473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9B4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13" name="Text 9"/>
          <p:cNvSpPr/>
          <p:nvPr/>
        </p:nvSpPr>
        <p:spPr>
          <a:xfrm>
            <a:off x="3680348" y="2995464"/>
            <a:ext cx="2043938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F5F1E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Delapan butir Syarat Perlu Unggul terpenuhi</a:t>
            </a:r>
            <a:endParaRPr lang="en-US" sz="759" dirty="0"/>
          </a:p>
        </p:txBody>
      </p:sp>
      <p:sp>
        <p:nvSpPr>
          <p:cNvPr id="14" name="Text 10"/>
          <p:cNvSpPr/>
          <p:nvPr/>
        </p:nvSpPr>
        <p:spPr>
          <a:xfrm>
            <a:off x="5902189" y="2899023"/>
            <a:ext cx="1556221" cy="332631"/>
          </a:xfrm>
          <a:prstGeom prst="roundRect">
            <a:avLst>
              <a:gd name="adj" fmla="val 28635"/>
            </a:avLst>
          </a:prstGeom>
          <a:solidFill>
            <a:srgbClr val="FFFFFF">
              <a:alpha val="6000"/>
            </a:srgbClr>
          </a:solidFill>
          <a:ln w="7144">
            <a:solidFill>
              <a:srgbClr val="F5F1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048635" y="2997473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D9B45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36" dirty="0"/>
          </a:p>
        </p:txBody>
      </p:sp>
      <p:sp>
        <p:nvSpPr>
          <p:cNvPr id="16" name="Text 12"/>
          <p:cNvSpPr/>
          <p:nvPr/>
        </p:nvSpPr>
        <p:spPr>
          <a:xfrm>
            <a:off x="6150188" y="2995464"/>
            <a:ext cx="1161775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1"/>
              </a:lnSpc>
              <a:buNone/>
            </a:pPr>
            <a:r>
              <a:rPr lang="en-US" sz="759" dirty="0">
                <a:solidFill>
                  <a:srgbClr val="F5F1E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Bukti sah untuk tiap butir</a:t>
            </a:r>
            <a:endParaRPr lang="en-US" sz="759" dirty="0"/>
          </a:p>
        </p:txBody>
      </p:sp>
      <p:sp>
        <p:nvSpPr>
          <p:cNvPr id="17" name="Text 13"/>
          <p:cNvSpPr/>
          <p:nvPr/>
        </p:nvSpPr>
        <p:spPr>
          <a:xfrm>
            <a:off x="2571750" y="4430911"/>
            <a:ext cx="4000500" cy="7144"/>
          </a:xfrm>
          <a:prstGeom prst="rect">
            <a:avLst/>
          </a:prstGeom>
          <a:solidFill>
            <a:srgbClr val="B8912F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494173" y="4530923"/>
            <a:ext cx="4155542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1E6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Universitas Tulungagung — Pusat Penjaminan Mutu · Rapat Persiapan Akreditasi ·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1E6">
                    <a:alpha val="8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1E6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Oktober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F5F1E6">
                    <a:alpha val="8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731" dirty="0"/>
          </a:p>
        </p:txBody>
      </p:sp>
      <p:sp>
        <p:nvSpPr>
          <p:cNvPr id="19" name="Text 15"/>
          <p:cNvSpPr/>
          <p:nvPr/>
        </p:nvSpPr>
        <p:spPr>
          <a:xfrm>
            <a:off x="2618073" y="4720233"/>
            <a:ext cx="39077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6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Dasar hukum: Permendiktisaintek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6">
                    <a:alpha val="6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No. 39 Tahun 2025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6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jo. 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6">
                    <a:alpha val="6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No. 10 Tahun 2026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6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6">
                    <a:alpha val="68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BN 2026 No. 477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F5F1E6">
                    <a:alpha val="6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).</a:t>
            </a:r>
            <a:endParaRPr lang="en-US" sz="64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2026-10-22T12:35:41Z</dcterms:created>
  <dcterms:modified xsi:type="dcterms:W3CDTF">2026-10-22T12:35:41Z</dcterms:modified>
</cp:coreProperties>
</file>