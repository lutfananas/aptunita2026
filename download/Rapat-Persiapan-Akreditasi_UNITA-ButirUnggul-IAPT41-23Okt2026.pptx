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Tujuan sesi: keluar dari rapat dengan keputusan, bukan sekadar wawasan.
- Deck ini merupakan lanjutan pemaparan regulasi pada sesi pagi ini.
- Fokus teknis hari ini: delapan butir Syarat Perlu Unggul (SPU) pada instrumen IAPT 4.1.
- Rapat digelar 23 Oktober 2026 — titik berangkat seluruh jadwal persiapan menuju SAPTO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Tegaskan: 65 butir bukan 65 pekerjaan setara — 8 di antaranya indikator wajib (SPU).
- Komposisi menunjukkan bobot terbesar di K.2.1 (22 butir) dan K.3 (18 butir).
- Ingatkan ambang pengikat: skor total 80 plus seluruh 8 SPU terpenuhi.
- Jelaskan ritme bedah sesi: butir &amp; ambang → mekanisme → strategi &amp; penanggung jawab (akun aplikasi).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Tanyakan ke ruangan: berapa prodi kita yang sudah Unggul/A hari ini?
- Jawaban itu menentukan SPU paling mengikat bagi UNITA: akreditasi program studi (Butir 4).
- Ulangi aturan emas: skor 80 DAN seluruh 8 SPU — satu butir gagal berarti gagal Unggul.
- Kunci jadwal: unggah usulan ke SAPTO 2.0 pada 15–19 Maret 2027.
- Konteks Psl 77: akreditasi maksimal 2 tahun sejak MABA pertama, plus kesempatan perbaikan 6 bulan.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SPU adalah pembeda kegagalan Unggul — bahas satu per satu.
- Delapan butir menyebar di empat kriteria: K.1, K.2.1, K.3, dan K.4.
- Pesan kunci: tidak boleh satu pun gagal — selesai, atau tidak sama sekali.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Empat dari delapan indikator: dua budaya mutu, satu akreditasi prodi, satu kecukupan dosen.
- Dua di antaranya murni soal SDM dosen: doktor ≥ 20% (SPU-4) dan, di slide berikutnya, DTJA.
- Keputusan yang ditagih: tetapkan 2–3 prodi prioritas dan anggarkan studi S3/rekrutmen doktor.
- Audit SPMI internal dikunci Desember 2026 — pemilik akun ppmk1.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SPU-6 paling terikat waktu: proses audit KAP panjang — kontrak sebelum akhir 2026.
- SPU-7 dan SPU-8 tidak bisa dipoles di akhir: butuh data dan bukti pengakuan bertahun-tahun.
- Mulai inventarisasi pengakuan 3 tahun terakhir: sertifikat, MoU, surat, liputan media.
- DTJA (SPU-5) ditagih lewat matriks kesiapan usulan kenaikan jabatan 2026–2027.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Lima pertanyaan ini bersumber dari kerangka isian butir di aplikasi APTUNITA — bukan pertanyaan baru.
- Jawaban atas kelima pertanyaan menentukan arah anggaran Q4 2026.
- Kolom kanan adalah keputusan yang harus disahkan sebelum rapat ditutup hari ini.
- Ingatkan pemilik akun: ppmk1 (butir 1, 2, 4), ppmk21 (7A, 11), ppmk3 (35), ppmk4 (36A, 39).
- Pertanyaan yang belum terjawab tetap diberi pemilik data dan tenggat, bukan ditunda tanpa penanggung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Struktur Masukan → Proses → Luaran → Dampak adalah logika pembuktian: kebijakan → pelaksanaan → hasil → pengakuan eksternal.
- Enam kelompok dibaca searah kerja instrumen, bukan berdasarkan tingkat kemudahan.
- K.2.1 (22 butir) dan K.3 (18 butir) menyumbang lebih dari separuh isi LED — alokasikan energi sesuai proporsi.
- Setiap kelompok dibedah dengan format yang sama: butir, ambang Unggul, mekanisme, dan strategi.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K.1 adalah risiko terbesar sekaligus paling terkendali — seluruh buktinya dokumen internal UNITA.
- Tiga dari empat butir berlabel SPU: butir 1, 2, dan 4 — tidak ada alasan menunda kriteria ini.
- Tunjuk satu kurator dokumen SPMI agar versi narasi dan bukti konsisten.
- Kalender RTM dikunci Desember 2026; audit internal menjadi bukti kunci berfungsinya PPEPP.
- Sinkronkan data PD Dikti sejak draf pertama, bukan saat finalisasi 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- 22 butir menegaskan pendidikan tetap jantung LED UNITA.
- Fokuskan keputusan pada dua SPU: doktor ≥ 20% (SPU-4) dan DTJA ≥ 10% (SPU-5).
- Kelulusan dan tracer study adalah data tren 3 tahun (L08–L17) — mulai kumpulkan sekarang.
- Butir 10B dapat diisi magang, pertukaran mahasiswa, atau proyek terstruktur.
- Dua SPU di kriteria ini menuntut keputusan SDM tahun ini, bukan tahun depan.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Penelitian adalah kriteria paling rawan kosong di PTS kecil — targetkan RLP sejak Desember.
- RLP 100% setara satu luaran per dosen tetap per 3 tahun; susun target per dosen.
- Daftar dosen tanpa luaran langsung menjadi daftar tugas PPM.
- Tabel penopang: L19 &amp; L21 (Tabel 21 &amp; 22a).
- Arahkan tema penelitian mengikuti diferensiasi misi agar sekaligus menopang K.4.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PkM adalah pintu tercepat menambah RRD &amp; RHKI karena siklusnya pendek.
- Arahkan PkM ke agenda wilayah sesuai diferensiasi — sekaligus mengisi bukti butir 39.
- Targetkan satu HKI per kelompok PkM.
- MoU dan liputan media dipakai sebagai bukti rekognisi (tabel L20 &amp; L22).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- 18 butir terlihat banyak, tetapi mayoritas adalah dokumen tata kelola yang sudah dimiliki UNITA — kurasi, bukan menulis ulang.
- Satu-satunya proyek nyata di K.3: kontrak KAP untuk opini WTP — mulai Q1 karena proses auditnya panjang.
- Survei kepuasan (L23) butuh instrumen valid, sampel rapi, dan bukti tindak lanjut atas hasilnya.
- Bukti termurah: register risiko dan pembaruan laman PT — kerjakan sekarang, jangan dicicil di akhir.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K.4 hanya 5 butir tetapi menentukan wajah Unggul UNITA — ini kriteria pembeda karakter institusi.
- Dua SPU ada di sini (36A dan 39): diferensiasi harus terukur pada data 3 tahun DAN diakui eksternal.
- Hubungkan dengan butir 21B (budaya PkM &amp; layanan kepakaran) dan butir 19 (pengakuan bidang penelitian).
- Minta ppmk4 mengunci 3 aspek diferensiasi minggu ini; inventarisasi pengakuan dimulai sekarang, bukan menjelang unggah.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Rumuskan ulang untuk ruangan: LKPT adalah angka, naskah adalah cerita — keduanya harus cocok dengan PD Dikti.
- K.2.1 menyeret 13 tabel LKPT; tunjuk satu kurator per tabel sejak minggu ini.
- Data yang belum ada (tracer, kepuasan, audit) masuk jadwal November sesuai kalender aplikasi.
- Ingatkan Psl 78 &amp; 96: perpanjangan status dan pemantauan berbasis PD Dikti — sinkronisasi data bukan opsional.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Aplikasi APTUNITA sudah menegakkan pembagian peran — butir kriteria lain terkunci otomatis.
- Mengklik butir milik kriteria lain akan memunculkan peringatan; kirimkan data Anda kepada pemilik kriteria.
- Rapat mingguan membaca status Final per butir, bukan kesan umum "sudah jalan".
- Butir merah dikerjakan lebih dulu — itu penanda prioritas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Tanggal diambil dari jadwal default aplikasi APTUNITA — bisa digeser lewat tab Jadwal oleh admin.
- Fase 3 adalah tonggak unggah: 15–19 Maret 2027; semua pekerjaan dimundurkan dari tanggal itu.
- Simulasi asesmen asesor pendamping (8–12 Feb) adalah batas aman penyelesaian seluruh bukti.
- Ingatkan tenggat regulasi: perbaikan 6 bulan (Psl 77) dan LAM wajib menjadi BHP ≤ 16 Juli 2027 (Psl 113).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Tutup dengan meminta persetujuan eksplisit atas 4 keputusan di kotak aksen — jangan biarkan menggantung.
- Catat penugasan dan tenggatnya: siapa, apa, kapan.
- Tegaskan tiga strategi payung: pemenuhan indikator mendahului skor, satu data satu pintu (PD Dikti), diferensiasi sebagai benang merah.
- Baca ulang 4 risiko utama beserta mitigasinya sebelum menutup rapat.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77087009-zeeeu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38" y="-1357312"/>
            <a:ext cx="4572000" cy="457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86438" y="-1357312"/>
            <a:ext cx="4572000" cy="457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514350" y="414338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5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RAPAT PERSIAPAN AKREDITASI · SESI TEKNIS TASK FORCE INTI</a:t>
            </a:r>
            <a:endParaRPr lang="en-US" sz="8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630436"/>
            <a:ext cx="1700213" cy="714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14350" y="1009055"/>
            <a:ext cx="8629650" cy="1406587"/>
          </a:xfrm>
          <a:prstGeom prst="rect">
            <a:avLst/>
          </a:prstGeom>
          <a:noFill/>
          <a:ln/>
          <a:effectLst>
            <a:outerShdw sx="100000" sy="100000" kx="0" ky="0" algn="bl" rotWithShape="0" blurRad="323850" dist="57150" dir="5400000">
              <a:srgbClr val="040A16">
                <a:alpha val="6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5128"/>
              </a:lnSpc>
              <a:buNone/>
            </a:pPr>
            <a:r>
              <a:rPr lang="en-US" sz="4838" b="1" spc="-56" kern="0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Delapan Indikator</a:t>
            </a:r>
            <a:endParaRPr lang="en-US" sz="4838" dirty="0"/>
          </a:p>
          <a:p>
            <a:pPr algn="l" indent="0" marL="0">
              <a:lnSpc>
                <a:spcPts val="5128"/>
              </a:lnSpc>
              <a:buNone/>
            </a:pPr>
            <a:r>
              <a:rPr lang="en-US" sz="4838" b="1" spc="-56" kern="0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Menuju </a:t>
            </a:r>
            <a:pPr algn="l" indent="0" marL="0">
              <a:lnSpc>
                <a:spcPts val="5128"/>
              </a:lnSpc>
              <a:buNone/>
            </a:pPr>
            <a:r>
              <a:rPr lang="en-US" sz="4838" b="1" spc="-56" kern="0" dirty="0">
                <a:solidFill>
                  <a:srgbClr val="38BD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Unggul.</a:t>
            </a:r>
            <a:endParaRPr lang="en-US" sz="4838" dirty="0"/>
          </a:p>
        </p:txBody>
      </p:sp>
      <p:sp>
        <p:nvSpPr>
          <p:cNvPr id="9" name="Text 3"/>
          <p:cNvSpPr/>
          <p:nvPr/>
        </p:nvSpPr>
        <p:spPr>
          <a:xfrm>
            <a:off x="514350" y="2482900"/>
            <a:ext cx="4629150" cy="42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butir </a:t>
            </a:r>
            <a:pPr algn="l" indent="0" marL="0">
              <a:lnSpc>
                <a:spcPts val="1549"/>
              </a:lnSpc>
              <a:buNone/>
            </a:pPr>
            <a:r>
              <a:rPr lang="en-US" sz="956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Syarat Perlu Unggul</a:t>
            </a:r>
            <a:pPr algn="l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pada instrumen IAPT 4.1 — mekanisme pencapaiannya dan strategi eksekusi UNITA.</a:t>
            </a:r>
            <a:endParaRPr lang="en-US" sz="956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088" y="4189809"/>
            <a:ext cx="1071563" cy="71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68086" y="4268391"/>
            <a:ext cx="19615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b="1" spc="104" kern="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PENJAMINAN MUTU UNITA</a:t>
            </a:r>
            <a:endParaRPr lang="en-US" sz="800" dirty="0"/>
          </a:p>
        </p:txBody>
      </p:sp>
      <p:sp>
        <p:nvSpPr>
          <p:cNvPr id="12" name="Shape 5"/>
          <p:cNvSpPr/>
          <p:nvPr/>
        </p:nvSpPr>
        <p:spPr>
          <a:xfrm>
            <a:off x="514350" y="4538067"/>
            <a:ext cx="8115300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14350" y="467112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055" dirty="0"/>
          </a:p>
        </p:txBody>
      </p:sp>
      <p:sp>
        <p:nvSpPr>
          <p:cNvPr id="14" name="Text 7"/>
          <p:cNvSpPr/>
          <p:nvPr/>
        </p:nvSpPr>
        <p:spPr>
          <a:xfrm>
            <a:off x="678656" y="4663083"/>
            <a:ext cx="199077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Permendiktisaintek No.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39/2025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jo. No.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10/2026</a:t>
            </a:r>
            <a:endParaRPr lang="en-US" sz="647" dirty="0"/>
          </a:p>
        </p:txBody>
      </p:sp>
      <p:sp>
        <p:nvSpPr>
          <p:cNvPr id="15" name="Text 8"/>
          <p:cNvSpPr/>
          <p:nvPr/>
        </p:nvSpPr>
        <p:spPr>
          <a:xfrm>
            <a:off x="2707704" y="4674691"/>
            <a:ext cx="7144" cy="100013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2900586" y="4663083"/>
            <a:ext cx="178475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butir LED ·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LKPT ·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Naskah ·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SPU</a:t>
            </a:r>
            <a:endParaRPr lang="en-US" sz="647" dirty="0"/>
          </a:p>
        </p:txBody>
      </p:sp>
      <p:sp>
        <p:nvSpPr>
          <p:cNvPr id="17" name="Text 10"/>
          <p:cNvSpPr/>
          <p:nvPr/>
        </p:nvSpPr>
        <p:spPr>
          <a:xfrm>
            <a:off x="4738874" y="4674691"/>
            <a:ext cx="7144" cy="100013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4931755" y="467112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19" name="Text 12"/>
          <p:cNvSpPr/>
          <p:nvPr/>
        </p:nvSpPr>
        <p:spPr>
          <a:xfrm>
            <a:off x="5096061" y="4663083"/>
            <a:ext cx="86956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Oktober 2026</a:t>
            </a:r>
            <a:endParaRPr lang="en-US" sz="64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143250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3143250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863600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 SESI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Satu Tujuan, Angka yang Mengikat</a:t>
            </a:r>
            <a:endParaRPr lang="en-US" sz="20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17191"/>
            <a:ext cx="2695538" cy="828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197" y="920762"/>
            <a:ext cx="2688394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64356" y="1031491"/>
            <a:ext cx="242407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588" dirty="0"/>
          </a:p>
        </p:txBody>
      </p:sp>
      <p:sp>
        <p:nvSpPr>
          <p:cNvPr id="9" name="Text 5"/>
          <p:cNvSpPr/>
          <p:nvPr/>
        </p:nvSpPr>
        <p:spPr>
          <a:xfrm>
            <a:off x="564356" y="1539143"/>
            <a:ext cx="24240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kelompok butir kriteria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175" y="917191"/>
            <a:ext cx="2695538" cy="8286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27747" y="920762"/>
            <a:ext cx="2688394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359907" y="1031491"/>
            <a:ext cx="242407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endParaRPr lang="en-US" sz="2588" dirty="0"/>
          </a:p>
        </p:txBody>
      </p:sp>
      <p:sp>
        <p:nvSpPr>
          <p:cNvPr id="13" name="Text 8"/>
          <p:cNvSpPr/>
          <p:nvPr/>
        </p:nvSpPr>
        <p:spPr>
          <a:xfrm>
            <a:off x="3359907" y="1539143"/>
            <a:ext cx="24240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LED IAPT 4.1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26" y="917191"/>
            <a:ext cx="2695649" cy="8286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23297" y="920762"/>
            <a:ext cx="2688506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6155457" y="1031491"/>
            <a:ext cx="242418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2588" dirty="0"/>
          </a:p>
        </p:txBody>
      </p:sp>
      <p:sp>
        <p:nvSpPr>
          <p:cNvPr id="17" name="Text 11"/>
          <p:cNvSpPr/>
          <p:nvPr/>
        </p:nvSpPr>
        <p:spPr>
          <a:xfrm>
            <a:off x="6155457" y="1539143"/>
            <a:ext cx="242418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tabel LKPT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45878"/>
            <a:ext cx="2695538" cy="8286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2197" y="1849450"/>
            <a:ext cx="2688394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564356" y="1960178"/>
            <a:ext cx="242407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588" dirty="0"/>
          </a:p>
        </p:txBody>
      </p:sp>
      <p:sp>
        <p:nvSpPr>
          <p:cNvPr id="21" name="Text 14"/>
          <p:cNvSpPr/>
          <p:nvPr/>
        </p:nvSpPr>
        <p:spPr>
          <a:xfrm>
            <a:off x="564356" y="2467831"/>
            <a:ext cx="242407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naskah LED</a:t>
            </a:r>
            <a:endParaRPr lang="en-US" sz="8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4175" y="1845878"/>
            <a:ext cx="2695538" cy="8286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227747" y="1849450"/>
            <a:ext cx="2688394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3359907" y="1960178"/>
            <a:ext cx="242407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2588" dirty="0"/>
          </a:p>
        </p:txBody>
      </p:sp>
      <p:sp>
        <p:nvSpPr>
          <p:cNvPr id="25" name="Text 17"/>
          <p:cNvSpPr/>
          <p:nvPr/>
        </p:nvSpPr>
        <p:spPr>
          <a:xfrm>
            <a:off x="3359907" y="2467831"/>
            <a:ext cx="2533803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butir Syarat Perlu Unggul (SPU)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726" y="1845878"/>
            <a:ext cx="2695649" cy="8286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023297" y="1849450"/>
            <a:ext cx="2688506" cy="821531"/>
          </a:xfrm>
          <a:prstGeom prst="roundRect">
            <a:avLst>
              <a:gd name="adj" fmla="val 16232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6155457" y="1960178"/>
            <a:ext cx="2424187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</a:t>
            </a:r>
            <a:endParaRPr lang="en-US" sz="2588" dirty="0"/>
          </a:p>
        </p:txBody>
      </p:sp>
      <p:sp>
        <p:nvSpPr>
          <p:cNvPr id="29" name="Text 20"/>
          <p:cNvSpPr/>
          <p:nvPr/>
        </p:nvSpPr>
        <p:spPr>
          <a:xfrm>
            <a:off x="6155457" y="2467831"/>
            <a:ext cx="242418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skor ambang status Unggul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428625" y="2817428"/>
            <a:ext cx="7928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KOMPOSISI BUTIR PER KELOMPOK KRITERIA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8370448" y="2817428"/>
            <a:ext cx="4420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</a:t>
            </a:r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endParaRPr lang="en-US" sz="600" dirty="0"/>
          </a:p>
        </p:txBody>
      </p:sp>
      <p:sp>
        <p:nvSpPr>
          <p:cNvPr id="32" name="Text 23"/>
          <p:cNvSpPr/>
          <p:nvPr/>
        </p:nvSpPr>
        <p:spPr>
          <a:xfrm>
            <a:off x="432197" y="2985306"/>
            <a:ext cx="8279606" cy="135731"/>
          </a:xfrm>
          <a:prstGeom prst="roundRect">
            <a:avLst>
              <a:gd name="adj" fmla="val 42105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435769" y="2988878"/>
            <a:ext cx="508657" cy="128588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666378" y="2994236"/>
            <a:ext cx="27804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944426" y="2988878"/>
            <a:ext cx="2800127" cy="128588"/>
          </a:xfrm>
          <a:prstGeom prst="rect">
            <a:avLst/>
          </a:prstGeom>
          <a:solidFill>
            <a:srgbClr val="38BDF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27"/>
          <p:cNvSpPr/>
          <p:nvPr/>
        </p:nvSpPr>
        <p:spPr>
          <a:xfrm>
            <a:off x="947998" y="2988878"/>
            <a:ext cx="0" cy="128588"/>
          </a:xfrm>
          <a:prstGeom prst="line">
            <a:avLst/>
          </a:prstGeom>
          <a:noFill/>
          <a:ln w="7144">
            <a:solidFill>
              <a:srgbClr val="0A1B33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2300734" y="2994236"/>
            <a:ext cx="144381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3744553" y="2988878"/>
            <a:ext cx="1017426" cy="128588"/>
          </a:xfrm>
          <a:prstGeom prst="rect">
            <a:avLst/>
          </a:prstGeom>
          <a:solidFill>
            <a:srgbClr val="38BDF8">
              <a:alpha val="3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0"/>
          <p:cNvSpPr/>
          <p:nvPr/>
        </p:nvSpPr>
        <p:spPr>
          <a:xfrm>
            <a:off x="3748125" y="2988878"/>
            <a:ext cx="0" cy="128588"/>
          </a:xfrm>
          <a:prstGeom prst="line">
            <a:avLst/>
          </a:prstGeom>
          <a:noFill/>
          <a:ln w="7144">
            <a:solidFill>
              <a:srgbClr val="0A1B33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4233118" y="2994236"/>
            <a:ext cx="52886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4761979" y="2988878"/>
            <a:ext cx="1017426" cy="128588"/>
          </a:xfrm>
          <a:prstGeom prst="rect">
            <a:avLst/>
          </a:prstGeom>
          <a:solidFill>
            <a:srgbClr val="38BDF8">
              <a:alpha val="2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3"/>
          <p:cNvSpPr/>
          <p:nvPr/>
        </p:nvSpPr>
        <p:spPr>
          <a:xfrm>
            <a:off x="4765551" y="2988878"/>
            <a:ext cx="0" cy="128588"/>
          </a:xfrm>
          <a:prstGeom prst="line">
            <a:avLst/>
          </a:prstGeom>
          <a:noFill/>
          <a:ln w="7144">
            <a:solidFill>
              <a:srgbClr val="0A1B33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250545" y="2994236"/>
            <a:ext cx="52886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5779405" y="2988878"/>
            <a:ext cx="2291469" cy="128588"/>
          </a:xfrm>
          <a:prstGeom prst="rect">
            <a:avLst/>
          </a:prstGeom>
          <a:solidFill>
            <a:srgbClr val="38BDF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36"/>
          <p:cNvSpPr/>
          <p:nvPr/>
        </p:nvSpPr>
        <p:spPr>
          <a:xfrm>
            <a:off x="5782977" y="2988878"/>
            <a:ext cx="0" cy="128588"/>
          </a:xfrm>
          <a:prstGeom prst="line">
            <a:avLst/>
          </a:prstGeom>
          <a:noFill/>
          <a:ln w="7144">
            <a:solidFill>
              <a:srgbClr val="0A1B33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881329" y="2994236"/>
            <a:ext cx="118954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8070875" y="2988878"/>
            <a:ext cx="636910" cy="128588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39"/>
          <p:cNvSpPr/>
          <p:nvPr/>
        </p:nvSpPr>
        <p:spPr>
          <a:xfrm>
            <a:off x="8074447" y="2988878"/>
            <a:ext cx="0" cy="128588"/>
          </a:xfrm>
          <a:prstGeom prst="line">
            <a:avLst/>
          </a:prstGeom>
          <a:noFill/>
          <a:ln w="7144">
            <a:solidFill>
              <a:srgbClr val="0A1B33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8369238" y="2994236"/>
            <a:ext cx="33854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428625" y="3188903"/>
            <a:ext cx="828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 Budaya Mutu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K.2.1 Relevansi Pendidikan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K.2.2 Relevansi Penelitian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K.2.3 Relevansi PkM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K.3 Akuntabilitas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K.4 Diferensiasi Misi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647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4032647"/>
            <a:ext cx="4959325" cy="839391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32197" y="4036219"/>
            <a:ext cx="4952181" cy="832247"/>
          </a:xfrm>
          <a:prstGeom prst="roundRect">
            <a:avLst>
              <a:gd name="adj" fmla="val 1602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578644" y="4154091"/>
            <a:ext cx="465928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CARA MEMBACA SESI INI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578644" y="4361259"/>
            <a:ext cx="12824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kriteria dibedah tiga lapis:</a:t>
            </a:r>
            <a:endParaRPr lang="en-US" sz="647" dirty="0"/>
          </a:p>
        </p:txBody>
      </p:sp>
      <p:sp>
        <p:nvSpPr>
          <p:cNvPr id="55" name="Text 45"/>
          <p:cNvSpPr/>
          <p:nvPr/>
        </p:nvSpPr>
        <p:spPr>
          <a:xfrm>
            <a:off x="1823219" y="4321862"/>
            <a:ext cx="116242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1823219" y="4332684"/>
            <a:ext cx="116242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BUTIR &amp; ambang Unggul</a:t>
            </a:r>
            <a:endParaRPr lang="en-US" sz="800" dirty="0"/>
          </a:p>
        </p:txBody>
      </p:sp>
      <p:sp>
        <p:nvSpPr>
          <p:cNvPr id="57" name="Text 47"/>
          <p:cNvSpPr/>
          <p:nvPr/>
        </p:nvSpPr>
        <p:spPr>
          <a:xfrm>
            <a:off x="3042791" y="436929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58" name="Text 48"/>
          <p:cNvSpPr/>
          <p:nvPr/>
        </p:nvSpPr>
        <p:spPr>
          <a:xfrm>
            <a:off x="3207097" y="4321862"/>
            <a:ext cx="1162645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9"/>
          <p:cNvSpPr/>
          <p:nvPr/>
        </p:nvSpPr>
        <p:spPr>
          <a:xfrm>
            <a:off x="3207097" y="4332684"/>
            <a:ext cx="116264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 pencapaian</a:t>
            </a:r>
            <a:endParaRPr lang="en-US" sz="800" dirty="0"/>
          </a:p>
        </p:txBody>
      </p:sp>
      <p:sp>
        <p:nvSpPr>
          <p:cNvPr id="60" name="Text 50"/>
          <p:cNvSpPr/>
          <p:nvPr/>
        </p:nvSpPr>
        <p:spPr>
          <a:xfrm>
            <a:off x="4426893" y="436929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61" name="Text 51"/>
          <p:cNvSpPr/>
          <p:nvPr/>
        </p:nvSpPr>
        <p:spPr>
          <a:xfrm>
            <a:off x="582216" y="4573786"/>
            <a:ext cx="2030388" cy="173236"/>
          </a:xfrm>
          <a:prstGeom prst="roundRect">
            <a:avLst>
              <a:gd name="adj" fmla="val 5492782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578644" y="4570214"/>
            <a:ext cx="2037531" cy="180380"/>
          </a:xfrm>
          <a:prstGeom prst="rect">
            <a:avLst/>
          </a:prstGeom>
          <a:noFill/>
          <a:ln/>
        </p:spPr>
        <p:txBody>
          <a:bodyPr wrap="square" lIns="85725" tIns="21431" rIns="85725" bIns="21431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 &amp; penanggung jawab (akun aplikasi)</a:t>
            </a:r>
            <a:endParaRPr lang="en-US" sz="647" dirty="0"/>
          </a:p>
        </p:txBody>
      </p:sp>
      <p:sp>
        <p:nvSpPr>
          <p:cNvPr id="63" name="Shape 53"/>
          <p:cNvSpPr/>
          <p:nvPr/>
        </p:nvSpPr>
        <p:spPr>
          <a:xfrm>
            <a:off x="5548685" y="4032647"/>
            <a:ext cx="0" cy="839391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5709419" y="4330898"/>
            <a:ext cx="3005956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pPr algn="l" indent="0" marL="0">
              <a:lnSpc>
                <a:spcPts val="956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Permendiktisaintek No. 39/2025 tentang Penjaminan Mutu Pendidikan Tinggi jo. No. 10/2026 (BN 2026 No. 477) · instrumen IAPT 4.1 · unggah via SAPTO 2.0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00" y="-18573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714500" y="-185737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863600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Bagaimana Status Unggul Ditentukan</a:t>
            </a:r>
            <a:endParaRPr lang="en-US" sz="20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31478"/>
            <a:ext cx="1491593" cy="16859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197" y="935050"/>
            <a:ext cx="1484449" cy="1678781"/>
          </a:xfrm>
          <a:prstGeom prst="roundRect">
            <a:avLst>
              <a:gd name="adj" fmla="val 898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42925" y="1052922"/>
            <a:ext cx="12629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19" dirty="0"/>
          </a:p>
        </p:txBody>
      </p:sp>
      <p:sp>
        <p:nvSpPr>
          <p:cNvPr id="9" name="Text 5"/>
          <p:cNvSpPr/>
          <p:nvPr/>
        </p:nvSpPr>
        <p:spPr>
          <a:xfrm>
            <a:off x="542925" y="1317241"/>
            <a:ext cx="1262993" cy="1426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2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Pengisian mandiri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42925" y="1487351"/>
            <a:ext cx="1338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LED 65 butir + 24 LKPT di aplikasi APTUNITA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955936" y="17065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86" y="931478"/>
            <a:ext cx="1491593" cy="1685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30958" y="935050"/>
            <a:ext cx="1484449" cy="1678781"/>
          </a:xfrm>
          <a:prstGeom prst="roundRect">
            <a:avLst>
              <a:gd name="adj" fmla="val 898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2241686" y="1052922"/>
            <a:ext cx="12629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19" dirty="0"/>
          </a:p>
        </p:txBody>
      </p:sp>
      <p:sp>
        <p:nvSpPr>
          <p:cNvPr id="15" name="Text 10"/>
          <p:cNvSpPr/>
          <p:nvPr/>
        </p:nvSpPr>
        <p:spPr>
          <a:xfrm>
            <a:off x="2241686" y="1317241"/>
            <a:ext cx="1262993" cy="26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2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Unggah usulan ke SAPTO 2.0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241686" y="1614599"/>
            <a:ext cx="12629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jadwal UNITA: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15–19 Maret 2027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3654698" y="17065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148" y="931478"/>
            <a:ext cx="1491593" cy="16859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29720" y="935050"/>
            <a:ext cx="1484449" cy="1678781"/>
          </a:xfrm>
          <a:prstGeom prst="roundRect">
            <a:avLst>
              <a:gd name="adj" fmla="val 898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940448" y="1052922"/>
            <a:ext cx="12629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19" dirty="0"/>
          </a:p>
        </p:txBody>
      </p:sp>
      <p:sp>
        <p:nvSpPr>
          <p:cNvPr id="21" name="Text 15"/>
          <p:cNvSpPr/>
          <p:nvPr/>
        </p:nvSpPr>
        <p:spPr>
          <a:xfrm>
            <a:off x="3940448" y="1317241"/>
            <a:ext cx="1262993" cy="26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2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Asesmen kecukupan BAN-PT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3940448" y="1614599"/>
            <a:ext cx="1338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evaluasi dokumen (perkiraan Apr–Mei 2027)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353459" y="17065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909" y="931478"/>
            <a:ext cx="1491593" cy="16859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28481" y="935050"/>
            <a:ext cx="1484449" cy="1678781"/>
          </a:xfrm>
          <a:prstGeom prst="roundRect">
            <a:avLst>
              <a:gd name="adj" fmla="val 898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639209" y="1052922"/>
            <a:ext cx="12629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519" dirty="0"/>
          </a:p>
        </p:txBody>
      </p:sp>
      <p:sp>
        <p:nvSpPr>
          <p:cNvPr id="27" name="Text 20"/>
          <p:cNvSpPr/>
          <p:nvPr/>
        </p:nvSpPr>
        <p:spPr>
          <a:xfrm>
            <a:off x="5639209" y="1317241"/>
            <a:ext cx="1338772" cy="26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2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Asesmen lapangan bila ditetapkan DE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5639209" y="1614599"/>
            <a:ext cx="13387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kunjungan asesor (perkiraan Jun 2027)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7052221" y="170657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36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671" y="931478"/>
            <a:ext cx="1491593" cy="16859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27243" y="935050"/>
            <a:ext cx="1484449" cy="1678781"/>
          </a:xfrm>
          <a:prstGeom prst="roundRect">
            <a:avLst>
              <a:gd name="adj" fmla="val 8983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7337971" y="1052922"/>
            <a:ext cx="12629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519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519" dirty="0"/>
          </a:p>
        </p:txBody>
      </p:sp>
      <p:sp>
        <p:nvSpPr>
          <p:cNvPr id="33" name="Text 25"/>
          <p:cNvSpPr/>
          <p:nvPr/>
        </p:nvSpPr>
        <p:spPr>
          <a:xfrm>
            <a:off x="7337971" y="1317241"/>
            <a:ext cx="1262993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2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Penetapan peringkat &amp; publikasi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7337971" y="23816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5" name="Text 27"/>
          <p:cNvSpPr/>
          <p:nvPr/>
        </p:nvSpPr>
        <p:spPr>
          <a:xfrm>
            <a:off x="7495133" y="2385231"/>
            <a:ext cx="110583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UNGGUL</a:t>
            </a:r>
            <a:endParaRPr lang="en-US" sz="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2745991"/>
            <a:ext cx="8286750" cy="56614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32197" y="2749562"/>
            <a:ext cx="8279606" cy="558998"/>
          </a:xfrm>
          <a:prstGeom prst="roundRect">
            <a:avLst>
              <a:gd name="adj" fmla="val 23855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592931" y="291476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2250" dirty="0"/>
          </a:p>
        </p:txBody>
      </p:sp>
      <p:sp>
        <p:nvSpPr>
          <p:cNvPr id="39" name="Text 30"/>
          <p:cNvSpPr/>
          <p:nvPr/>
        </p:nvSpPr>
        <p:spPr>
          <a:xfrm>
            <a:off x="950119" y="2874578"/>
            <a:ext cx="740123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ATURAN EMAS UNGGUL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950119" y="3010309"/>
            <a:ext cx="55202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Skor total ambang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DAN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seluruh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butir SPU terpenuhi. </a:t>
            </a:r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butir gagal = gagal Unggul, apa pun skornya.</a:t>
            </a:r>
            <a:endParaRPr lang="en-US" sz="872" dirty="0"/>
          </a:p>
        </p:txBody>
      </p:sp>
      <p:sp>
        <p:nvSpPr>
          <p:cNvPr id="41" name="Text 32"/>
          <p:cNvSpPr/>
          <p:nvPr/>
        </p:nvSpPr>
        <p:spPr>
          <a:xfrm>
            <a:off x="428625" y="3440720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KONTEKS REGULASI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435769" y="3612170"/>
            <a:ext cx="0" cy="393576"/>
          </a:xfrm>
          <a:prstGeom prst="line">
            <a:avLst/>
          </a:prstGeom>
          <a:noFill/>
          <a:ln w="14288">
            <a:solidFill>
              <a:srgbClr val="38BDF8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28638" y="3612170"/>
            <a:ext cx="188595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 77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528638" y="3767547"/>
            <a:ext cx="1885950" cy="238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akreditasi maks. 2 tahun sejak MABA pertama + kesempatan perbaikan 6 bulan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2536031" y="3612170"/>
            <a:ext cx="0" cy="393576"/>
          </a:xfrm>
          <a:prstGeom prst="line">
            <a:avLst/>
          </a:prstGeom>
          <a:noFill/>
          <a:ln w="14288">
            <a:solidFill>
              <a:srgbClr val="38BDF8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2628900" y="3612170"/>
            <a:ext cx="188595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 78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2628900" y="3767547"/>
            <a:ext cx="199567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perpanjangan status berbasis data PD Dikti</a:t>
            </a:r>
            <a:endParaRPr lang="en-US" sz="647" dirty="0"/>
          </a:p>
        </p:txBody>
      </p:sp>
      <p:sp>
        <p:nvSpPr>
          <p:cNvPr id="48" name="Shape 39"/>
          <p:cNvSpPr/>
          <p:nvPr/>
        </p:nvSpPr>
        <p:spPr>
          <a:xfrm>
            <a:off x="4636294" y="3612170"/>
            <a:ext cx="0" cy="393576"/>
          </a:xfrm>
          <a:prstGeom prst="line">
            <a:avLst/>
          </a:prstGeom>
          <a:noFill/>
          <a:ln w="14288">
            <a:solidFill>
              <a:srgbClr val="38BDF8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4729163" y="3612170"/>
            <a:ext cx="188595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 79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4729163" y="3767547"/>
            <a:ext cx="199567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PT terakreditasi pertama boleh mengejar Unggul</a:t>
            </a:r>
            <a:endParaRPr lang="en-US" sz="647" dirty="0"/>
          </a:p>
        </p:txBody>
      </p:sp>
      <p:sp>
        <p:nvSpPr>
          <p:cNvPr id="51" name="Shape 42"/>
          <p:cNvSpPr/>
          <p:nvPr/>
        </p:nvSpPr>
        <p:spPr>
          <a:xfrm>
            <a:off x="6736556" y="3612170"/>
            <a:ext cx="0" cy="393576"/>
          </a:xfrm>
          <a:prstGeom prst="line">
            <a:avLst/>
          </a:prstGeom>
          <a:noFill/>
          <a:ln w="14288">
            <a:solidFill>
              <a:srgbClr val="38BDF8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6829425" y="3612170"/>
            <a:ext cx="188595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Psl 113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6829425" y="3767547"/>
            <a:ext cx="199567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 wajib menjadi BHP paling lambat 16 Juli 2027</a:t>
            </a:r>
            <a:endParaRPr lang="en-US" sz="64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3125" y="285750"/>
            <a:ext cx="5429250" cy="5429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143125" y="285750"/>
            <a:ext cx="5429250" cy="54292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2344222" y="-457200"/>
            <a:ext cx="6799778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3"/>
              </a:lnSpc>
              <a:buNone/>
            </a:pPr>
            <a:r>
              <a:rPr lang="en-US" sz="14063" spc="-562" kern="0" dirty="0">
                <a:solidFill>
                  <a:srgbClr val="38BDF8">
                    <a:alpha val="11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4063"/>
              </a:lnSpc>
              <a:buNone/>
            </a:pPr>
            <a:r>
              <a:rPr lang="en-US" sz="14063" spc="-562" kern="0" dirty="0">
                <a:solidFill>
                  <a:srgbClr val="38BDF8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/02</a:t>
            </a:r>
            <a:endParaRPr lang="en-US" sz="14063" dirty="0"/>
          </a:p>
        </p:txBody>
      </p:sp>
      <p:sp>
        <p:nvSpPr>
          <p:cNvPr id="6" name="Text 2"/>
          <p:cNvSpPr/>
          <p:nvPr/>
        </p:nvSpPr>
        <p:spPr>
          <a:xfrm>
            <a:off x="657225" y="1121569"/>
            <a:ext cx="8486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5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BAGIAN PERTAMA</a:t>
            </a:r>
            <a:endParaRPr lang="en-US" sz="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330523"/>
            <a:ext cx="1071563" cy="71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7225" y="1494830"/>
            <a:ext cx="8486775" cy="984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en-US" sz="3150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Delapan Indikator Wajib —</a:t>
            </a:r>
            <a:endParaRPr lang="en-US" sz="3150" dirty="0"/>
          </a:p>
          <a:p>
            <a:pPr algn="l" indent="0" marL="0">
              <a:lnSpc>
                <a:spcPts val="3591"/>
              </a:lnSpc>
              <a:buNone/>
            </a:pPr>
            <a:r>
              <a:rPr lang="en-US" sz="3150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Syarat Perlu Unggul</a:t>
            </a:r>
            <a:endParaRPr lang="en-US" sz="3150" dirty="0"/>
          </a:p>
        </p:txBody>
      </p:sp>
      <p:sp>
        <p:nvSpPr>
          <p:cNvPr id="9" name="Text 4"/>
          <p:cNvSpPr/>
          <p:nvPr/>
        </p:nvSpPr>
        <p:spPr>
          <a:xfrm>
            <a:off x="657225" y="2521074"/>
            <a:ext cx="564356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Delapan butir berlabel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pada instrumen. Tidak boleh satu pun gagal —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selesai, atau tidak sama sekali.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946797"/>
            <a:ext cx="1887736" cy="4911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0797" y="2950369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771525" y="3046809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K.1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771525" y="3214688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SPMI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830" y="2946797"/>
            <a:ext cx="1887736" cy="49113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641402" y="2950369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2752130" y="3046809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2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K.1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2752130" y="3214688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Siklus PPEPP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434" y="2946797"/>
            <a:ext cx="1887736" cy="4911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22006" y="2950369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4732734" y="3046809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4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K.1</a:t>
            </a:r>
            <a:endParaRPr lang="en-US" sz="800" dirty="0"/>
          </a:p>
        </p:txBody>
      </p:sp>
      <p:sp>
        <p:nvSpPr>
          <p:cNvPr id="21" name="Text 13"/>
          <p:cNvSpPr/>
          <p:nvPr/>
        </p:nvSpPr>
        <p:spPr>
          <a:xfrm>
            <a:off x="4732734" y="3214688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Akreditasi prodi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039" y="2946797"/>
            <a:ext cx="1887736" cy="49113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02611" y="2950369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6713339" y="3046809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7A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K.2.1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6713339" y="3214688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Dosen per prodi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530798"/>
            <a:ext cx="1887736" cy="49113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0797" y="3534370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8"/>
          <p:cNvSpPr/>
          <p:nvPr/>
        </p:nvSpPr>
        <p:spPr>
          <a:xfrm>
            <a:off x="771525" y="3630811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11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K.2.1</a:t>
            </a:r>
            <a:endParaRPr lang="en-US" sz="800" dirty="0"/>
          </a:p>
        </p:txBody>
      </p:sp>
      <p:sp>
        <p:nvSpPr>
          <p:cNvPr id="29" name="Text 19"/>
          <p:cNvSpPr/>
          <p:nvPr/>
        </p:nvSpPr>
        <p:spPr>
          <a:xfrm>
            <a:off x="771525" y="3798689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Jabatan akademik</a:t>
            </a:r>
            <a:endParaRPr lang="en-US" sz="8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830" y="3530798"/>
            <a:ext cx="1887736" cy="49113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641402" y="3534370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1"/>
          <p:cNvSpPr/>
          <p:nvPr/>
        </p:nvSpPr>
        <p:spPr>
          <a:xfrm>
            <a:off x="2752130" y="3630811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35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K.3</a:t>
            </a:r>
            <a:endParaRPr lang="en-US" sz="800" dirty="0"/>
          </a:p>
        </p:txBody>
      </p:sp>
      <p:sp>
        <p:nvSpPr>
          <p:cNvPr id="33" name="Text 22"/>
          <p:cNvSpPr/>
          <p:nvPr/>
        </p:nvSpPr>
        <p:spPr>
          <a:xfrm>
            <a:off x="2752130" y="3798689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eksternal</a:t>
            </a:r>
            <a:endParaRPr lang="en-US" sz="8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8434" y="3530798"/>
            <a:ext cx="1887736" cy="491133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622006" y="3534370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4"/>
          <p:cNvSpPr/>
          <p:nvPr/>
        </p:nvSpPr>
        <p:spPr>
          <a:xfrm>
            <a:off x="4732734" y="3630811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36A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K.4</a:t>
            </a:r>
            <a:endParaRPr lang="en-US" sz="800" dirty="0"/>
          </a:p>
        </p:txBody>
      </p:sp>
      <p:sp>
        <p:nvSpPr>
          <p:cNvPr id="37" name="Text 25"/>
          <p:cNvSpPr/>
          <p:nvPr/>
        </p:nvSpPr>
        <p:spPr>
          <a:xfrm>
            <a:off x="4732734" y="3798689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Diferensiasi misi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9039" y="3530798"/>
            <a:ext cx="1887736" cy="491133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602611" y="3534370"/>
            <a:ext cx="1880592" cy="483989"/>
          </a:xfrm>
          <a:prstGeom prst="roundRect">
            <a:avLst>
              <a:gd name="adj" fmla="val 2755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7"/>
          <p:cNvSpPr/>
          <p:nvPr/>
        </p:nvSpPr>
        <p:spPr>
          <a:xfrm>
            <a:off x="6713339" y="3630811"/>
            <a:ext cx="1659136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39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K.4</a:t>
            </a:r>
            <a:endParaRPr lang="en-US" sz="800" dirty="0"/>
          </a:p>
        </p:txBody>
      </p:sp>
      <p:sp>
        <p:nvSpPr>
          <p:cNvPr id="41" name="Text 28"/>
          <p:cNvSpPr/>
          <p:nvPr/>
        </p:nvSpPr>
        <p:spPr>
          <a:xfrm>
            <a:off x="6713339" y="3798689"/>
            <a:ext cx="165913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keunggulan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9438" y="-1714500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9438" y="-1714500"/>
            <a:ext cx="3857625" cy="3857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14325"/>
            <a:ext cx="6041195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SYARAT PERLU UNGGUL · 1–4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00050" y="471488"/>
            <a:ext cx="5237686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Indikator dari Budaya Mutu &amp; Pendidikan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683550" y="617153"/>
            <a:ext cx="1347172" cy="230429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INDIKATOR </a:t>
            </a:r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1–4</a:t>
            </a:r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DARI 8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881472"/>
            <a:ext cx="4118372" cy="20080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3622" y="885044"/>
            <a:ext cx="4111228" cy="2000920"/>
          </a:xfrm>
          <a:prstGeom prst="roundRect">
            <a:avLst>
              <a:gd name="adj" fmla="val 666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5781" y="987306"/>
            <a:ext cx="340109" cy="158020"/>
          </a:xfrm>
          <a:prstGeom prst="roundRect">
            <a:avLst>
              <a:gd name="adj" fmla="val 3616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12420" y="995772"/>
            <a:ext cx="38683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40184" y="1010059"/>
            <a:ext cx="3442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 · K.1 Budaya Mutu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35781" y="1194011"/>
            <a:ext cx="3846909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SPMI: standar, tata kelola, evaluasi, peningkatan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35781" y="1388232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78719" y="1388232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SPMI keempat aspek terbukti diimplementasikan dan efektif meningkatkan mutu secara berkelanjutan.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35781" y="1676437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MEKANISME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78719" y="1676437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Buku SPMI lengkap → audit internal → bukti tren peningkatan (RTM, laporan tahunan SPMI).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5781" y="1964643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78719" y="1964643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ppmk1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mengkonsolidasikan seluruh dokumen SPMI; audit SPMI internal dikunci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Desember 2026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578" y="881472"/>
            <a:ext cx="4118372" cy="20080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29150" y="885044"/>
            <a:ext cx="4111228" cy="2000920"/>
          </a:xfrm>
          <a:prstGeom prst="roundRect">
            <a:avLst>
              <a:gd name="adj" fmla="val 666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761309" y="987306"/>
            <a:ext cx="340109" cy="158020"/>
          </a:xfrm>
          <a:prstGeom prst="roundRect">
            <a:avLst>
              <a:gd name="adj" fmla="val 3616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737948" y="995772"/>
            <a:ext cx="38683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SPU-2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165713" y="1010059"/>
            <a:ext cx="3442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2 · K.1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761309" y="1194011"/>
            <a:ext cx="3956637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Implementasi siklus PPEPP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761309" y="1388232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404247" y="1388232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Siklus Penetapan–Pelaksanaan–Evaluasi–Pengendalian–Peningkatan terbukti berfungsi pada tata kelola akademik dan non-akademik.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761309" y="1676437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MEKANISME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404247" y="1676437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standar punya bukti kelima elemen PPEPP: jadwal, pelaksanaan, notulen evaluasi, tindak lanjut.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761309" y="1964643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404247" y="1964643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RTM per semester terdokumentasi dengan satu templat notulen; hasil RTM jadi laporan tahunan SPMI.</a:t>
            </a:r>
            <a:endParaRPr lang="en-US" sz="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996692"/>
            <a:ext cx="4118372" cy="188963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03622" y="3000263"/>
            <a:ext cx="4111228" cy="1882490"/>
          </a:xfrm>
          <a:prstGeom prst="roundRect">
            <a:avLst>
              <a:gd name="adj" fmla="val 708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35781" y="3102526"/>
            <a:ext cx="340109" cy="158020"/>
          </a:xfrm>
          <a:prstGeom prst="roundRect">
            <a:avLst>
              <a:gd name="adj" fmla="val 3616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12420" y="3110992"/>
            <a:ext cx="38683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SPU-3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940184" y="3125279"/>
            <a:ext cx="28791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4 · K.1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805232" y="3130637"/>
            <a:ext cx="623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Tabel 1 (L01)</a:t>
            </a:r>
            <a:endParaRPr lang="en-US" sz="600" dirty="0"/>
          </a:p>
        </p:txBody>
      </p:sp>
      <p:sp>
        <p:nvSpPr>
          <p:cNvPr id="37" name="Text 31"/>
          <p:cNvSpPr/>
          <p:nvPr/>
        </p:nvSpPr>
        <p:spPr>
          <a:xfrm>
            <a:off x="535781" y="3309231"/>
            <a:ext cx="3846909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Akreditasi program studi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535781" y="3503451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178719" y="3503451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PT dengan ≤ 10 prodi: minimal 20% prodi Unggul/A; tidak boleh ada prodi tidak terakreditasi/kedaluwarsa. UNITA: 9 prodi → minimal 2 prodi Unggul/A.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35781" y="3791657"/>
            <a:ext cx="878324" cy="193468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MEKANISME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1178719" y="3791657"/>
            <a:ext cx="3203972" cy="1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Sinkronkan jadwal asesi LAM/BAN-PT prodi dengan pengajuan LED institusi.</a:t>
            </a:r>
            <a:endParaRPr lang="en-US" sz="647" dirty="0"/>
          </a:p>
        </p:txBody>
      </p:sp>
      <p:sp>
        <p:nvSpPr>
          <p:cNvPr id="42" name="Text 36"/>
          <p:cNvSpPr/>
          <p:nvPr/>
        </p:nvSpPr>
        <p:spPr>
          <a:xfrm>
            <a:off x="535781" y="3961321"/>
            <a:ext cx="878324" cy="193468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1178719" y="3961321"/>
            <a:ext cx="3203972" cy="1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Tetapkan 2–3 prodi terkuat sebagai prioritas; pantau status akreditasi via PD Dikti.</a:t>
            </a:r>
            <a:endParaRPr lang="en-US" sz="647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578" y="2996692"/>
            <a:ext cx="4118372" cy="188963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629150" y="3000263"/>
            <a:ext cx="4111228" cy="1882490"/>
          </a:xfrm>
          <a:prstGeom prst="roundRect">
            <a:avLst>
              <a:gd name="adj" fmla="val 708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761309" y="3102526"/>
            <a:ext cx="340109" cy="158020"/>
          </a:xfrm>
          <a:prstGeom prst="roundRect">
            <a:avLst>
              <a:gd name="adj" fmla="val 36166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737948" y="3110992"/>
            <a:ext cx="38683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SPU-4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5165713" y="3125279"/>
            <a:ext cx="2593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7A · K.2.1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7791041" y="3130637"/>
            <a:ext cx="8171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60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Tabel II-1.A.4 (L03)</a:t>
            </a:r>
            <a:endParaRPr lang="en-US" sz="600" dirty="0"/>
          </a:p>
        </p:txBody>
      </p:sp>
      <p:sp>
        <p:nvSpPr>
          <p:cNvPr id="50" name="Text 43"/>
          <p:cNvSpPr/>
          <p:nvPr/>
        </p:nvSpPr>
        <p:spPr>
          <a:xfrm>
            <a:off x="4761309" y="3309231"/>
            <a:ext cx="3956637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Kecukupan dosen per program studi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761309" y="3503451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5404247" y="3503451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Dosen tetap bergelar doktor sekurang-kurangnya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(PTS Akademik); tiap prodi Sarjana memiliki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5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dosen tetap.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4761309" y="3791657"/>
            <a:ext cx="878324" cy="193468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MEKANISME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404247" y="3791657"/>
            <a:ext cx="3203972" cy="15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Hitung NDT dari PD Dikti; petakan gap doktor per prodi.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4761309" y="3961321"/>
            <a:ext cx="878324" cy="385131"/>
          </a:xfrm>
          <a:prstGeom prst="rect">
            <a:avLst/>
          </a:prstGeom>
          <a:noFill/>
          <a:ln/>
        </p:spPr>
        <p:txBody>
          <a:bodyPr wrap="none" lIns="0" tIns="17859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5404247" y="3961321"/>
            <a:ext cx="3203972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Percepat studi S3 (beasiswa) + rekrutmen doktor; angka % dokter ditetapkan di rapat berikutnya.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00" y="3143250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714500" y="3143250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14325"/>
            <a:ext cx="674150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SYARAT PERLU UNGGUL · 5–8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00050" y="471488"/>
            <a:ext cx="5844849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Indikator dari Akuntabilitas &amp; Diferensiasi Misi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7683550" y="617153"/>
            <a:ext cx="1347172" cy="230429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INDIKATOR </a:t>
            </a:r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5–8</a:t>
            </a:r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DARI 8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881472"/>
            <a:ext cx="8343900" cy="9369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3622" y="885044"/>
            <a:ext cx="8336756" cy="929804"/>
          </a:xfrm>
          <a:prstGeom prst="roundRect">
            <a:avLst>
              <a:gd name="adj" fmla="val 1434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5603" y="1275651"/>
            <a:ext cx="390585" cy="170021"/>
          </a:xfrm>
          <a:prstGeom prst="roundRect">
            <a:avLst>
              <a:gd name="adj" fmla="val 3361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37479" y="1284759"/>
            <a:ext cx="38683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SPU-5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207294" y="1157399"/>
            <a:ext cx="2100263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11 · K.2.1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207294" y="1291344"/>
            <a:ext cx="2160270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Jabatan akademik dosen tetap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207294" y="1440693"/>
            <a:ext cx="2100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Tabel II-1.C.1 (L07)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36131" y="974341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471863" y="1225153"/>
            <a:ext cx="336854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71863" y="1355527"/>
            <a:ext cx="2428875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DTJA = (Guru Besar + Lektor Kepala) / dosen tetap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10%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647" dirty="0"/>
          </a:p>
        </p:txBody>
      </p:sp>
      <p:sp>
        <p:nvSpPr>
          <p:cNvPr id="17" name="Text 13"/>
          <p:cNvSpPr/>
          <p:nvPr/>
        </p:nvSpPr>
        <p:spPr>
          <a:xfrm>
            <a:off x="6029325" y="974341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165056" y="1165659"/>
            <a:ext cx="242887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165056" y="1296033"/>
            <a:ext cx="2428875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Matriks kesiapan usulan kenaikan jabatan 2026–2027; prioritaskan dosen dengan dokumen lengkap.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904144"/>
            <a:ext cx="8343900" cy="9369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3622" y="1907716"/>
            <a:ext cx="8336756" cy="929804"/>
          </a:xfrm>
          <a:prstGeom prst="roundRect">
            <a:avLst>
              <a:gd name="adj" fmla="val 1434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35603" y="2298323"/>
            <a:ext cx="390585" cy="170021"/>
          </a:xfrm>
          <a:prstGeom prst="roundRect">
            <a:avLst>
              <a:gd name="adj" fmla="val 3361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37479" y="2307431"/>
            <a:ext cx="38683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SPU-6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207294" y="2180072"/>
            <a:ext cx="2100263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35 · K.3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207294" y="2314017"/>
            <a:ext cx="2100263" cy="1219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eksternal keuangan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207294" y="2463366"/>
            <a:ext cx="2100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Tabel 25 (L24)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36131" y="1997013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71863" y="2128726"/>
            <a:ext cx="336854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471863" y="2259099"/>
            <a:ext cx="2428875" cy="47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Badan Penyelenggara diaudit Kantor Akuntan Publik dengan opini Wajar Tanpa Pengecualian (WTP); ikhtisar laporan keuangan dipublikasikan.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029325" y="1997013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165056" y="2188332"/>
            <a:ext cx="242887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165056" y="2318705"/>
            <a:ext cx="2428875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Kontrak KAP sebelum akhir 2026 agar opini WTP tersedia saat asesmen; siapkan 2–3 tahun laporan auditan.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926817"/>
            <a:ext cx="8343900" cy="93694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03622" y="2930389"/>
            <a:ext cx="8336756" cy="929804"/>
          </a:xfrm>
          <a:prstGeom prst="roundRect">
            <a:avLst>
              <a:gd name="adj" fmla="val 1434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535603" y="3320995"/>
            <a:ext cx="390585" cy="170021"/>
          </a:xfrm>
          <a:prstGeom prst="roundRect">
            <a:avLst>
              <a:gd name="adj" fmla="val 3361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537479" y="3330104"/>
            <a:ext cx="38683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SPU-7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207294" y="3264359"/>
            <a:ext cx="2100263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36A · K.4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1207294" y="3398304"/>
            <a:ext cx="2100263" cy="14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Diferensiasi misi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3336131" y="3019685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3471863" y="3151398"/>
            <a:ext cx="336854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3471863" y="3281772"/>
            <a:ext cx="2428875" cy="47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Misi menegaskan keunggulan khas sesuai mandat pendirian dan keterlibatan dalam agenda wilayah/nasional; fokus pengembangan terukur.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029325" y="3019685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165056" y="3211004"/>
            <a:ext cx="242887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165056" y="3341377"/>
            <a:ext cx="2428875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Tetapkan 3–4 aspek diferensiasi yang benar-benar terukur dengan data UNITA — menjadi benang merah seluruh LED.</a:t>
            </a:r>
            <a:endParaRPr lang="en-US" sz="8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949489"/>
            <a:ext cx="8343900" cy="936947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403622" y="3953061"/>
            <a:ext cx="8336756" cy="929804"/>
          </a:xfrm>
          <a:prstGeom prst="roundRect">
            <a:avLst>
              <a:gd name="adj" fmla="val 1434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535603" y="4343668"/>
            <a:ext cx="390585" cy="170021"/>
          </a:xfrm>
          <a:prstGeom prst="roundRect">
            <a:avLst>
              <a:gd name="adj" fmla="val 3361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537479" y="4352776"/>
            <a:ext cx="38683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SPU-8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1207294" y="4287031"/>
            <a:ext cx="2100263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39 · K.4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1207294" y="4420977"/>
            <a:ext cx="2160270" cy="14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keunggulan tridharma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3336131" y="4042358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3471863" y="4174071"/>
            <a:ext cx="336854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471863" y="4304444"/>
            <a:ext cx="2428875" cy="47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Bukti sahih pengakuan dan apresiasi masyarakat/DUDIK per aspek diferensiasi: prodi unggulan, penelitian terapan, layanan kepakaran.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6029325" y="4042358"/>
            <a:ext cx="7144" cy="751210"/>
          </a:xfrm>
          <a:prstGeom prst="rect">
            <a:avLst/>
          </a:prstGeom>
          <a:solidFill>
            <a:srgbClr val="94B2D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6165056" y="4233676"/>
            <a:ext cx="2428875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86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6165056" y="4364050"/>
            <a:ext cx="2428875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Inventarisasi pengakuan 3 tahun terakhir (sertifikat, MoU, surat, liputan); kejar pengakuan formal untuk aspek yang belum ada.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38" y="-1643062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7938" y="-1643062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-1357312" y="3643313"/>
            <a:ext cx="3286125" cy="3286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357312" y="3643313"/>
            <a:ext cx="3286125" cy="32861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28625" y="3616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600075" y="357188"/>
            <a:ext cx="8115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5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POSISI UNITA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8625" y="551855"/>
            <a:ext cx="8636000" cy="32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Lima Pertanyaan yang Harus Dijawab Hari Ini</a:t>
            </a:r>
            <a:endParaRPr lang="en-US" sz="20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92981"/>
            <a:ext cx="4057650" cy="34272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2197" y="996553"/>
            <a:ext cx="4050506" cy="3420070"/>
          </a:xfrm>
          <a:prstGeom prst="roundRect">
            <a:avLst>
              <a:gd name="adj" fmla="val 3899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92931" y="112871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195" dirty="0"/>
          </a:p>
        </p:txBody>
      </p:sp>
      <p:sp>
        <p:nvSpPr>
          <p:cNvPr id="12" name="Text 7"/>
          <p:cNvSpPr/>
          <p:nvPr/>
        </p:nvSpPr>
        <p:spPr>
          <a:xfrm>
            <a:off x="771525" y="1135856"/>
            <a:ext cx="3550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LIMA PERTANYAAN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92931" y="1483221"/>
            <a:ext cx="342900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94" dirty="0"/>
          </a:p>
        </p:txBody>
      </p:sp>
      <p:sp>
        <p:nvSpPr>
          <p:cNvPr id="14" name="Text 9"/>
          <p:cNvSpPr/>
          <p:nvPr/>
        </p:nvSpPr>
        <p:spPr>
          <a:xfrm>
            <a:off x="892969" y="1469045"/>
            <a:ext cx="2141102" cy="12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Berapa prodi UNITA yang sudah Unggul/A?</a:t>
            </a:r>
            <a:endParaRPr lang="en-US" sz="759" dirty="0"/>
          </a:p>
        </p:txBody>
      </p:sp>
      <p:sp>
        <p:nvSpPr>
          <p:cNvPr id="15" name="Text 10"/>
          <p:cNvSpPr/>
          <p:nvPr/>
        </p:nvSpPr>
        <p:spPr>
          <a:xfrm>
            <a:off x="892969" y="1620627"/>
            <a:ext cx="2081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2 dari 9 prodi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92931" y="1909167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2931" y="2088654"/>
            <a:ext cx="342900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94" dirty="0"/>
          </a:p>
        </p:txBody>
      </p:sp>
      <p:sp>
        <p:nvSpPr>
          <p:cNvPr id="18" name="Text 13"/>
          <p:cNvSpPr/>
          <p:nvPr/>
        </p:nvSpPr>
        <p:spPr>
          <a:xfrm>
            <a:off x="892969" y="2074478"/>
            <a:ext cx="1944725" cy="12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Berapa % dosen tetap bergelar doktor?</a:t>
            </a:r>
            <a:endParaRPr lang="en-US" sz="759" dirty="0"/>
          </a:p>
        </p:txBody>
      </p:sp>
      <p:sp>
        <p:nvSpPr>
          <p:cNvPr id="19" name="Text 14"/>
          <p:cNvSpPr/>
          <p:nvPr/>
        </p:nvSpPr>
        <p:spPr>
          <a:xfrm>
            <a:off x="892969" y="2226059"/>
            <a:ext cx="21103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20%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92931" y="2514600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2931" y="2694087"/>
            <a:ext cx="342900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94" dirty="0"/>
          </a:p>
        </p:txBody>
      </p:sp>
      <p:sp>
        <p:nvSpPr>
          <p:cNvPr id="22" name="Text 17"/>
          <p:cNvSpPr/>
          <p:nvPr/>
        </p:nvSpPr>
        <p:spPr>
          <a:xfrm>
            <a:off x="892969" y="2679911"/>
            <a:ext cx="1195563" cy="124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Berapa DTJA saat ini?</a:t>
            </a:r>
            <a:endParaRPr lang="en-US" sz="759" dirty="0"/>
          </a:p>
        </p:txBody>
      </p:sp>
      <p:sp>
        <p:nvSpPr>
          <p:cNvPr id="23" name="Text 18"/>
          <p:cNvSpPr/>
          <p:nvPr/>
        </p:nvSpPr>
        <p:spPr>
          <a:xfrm>
            <a:off x="892969" y="2831492"/>
            <a:ext cx="1195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10%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92931" y="3120033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2931" y="3299520"/>
            <a:ext cx="342900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94" dirty="0"/>
          </a:p>
        </p:txBody>
      </p:sp>
      <p:sp>
        <p:nvSpPr>
          <p:cNvPr id="26" name="Text 21"/>
          <p:cNvSpPr/>
          <p:nvPr/>
        </p:nvSpPr>
        <p:spPr>
          <a:xfrm>
            <a:off x="892969" y="3357674"/>
            <a:ext cx="2811289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Sudahkah laporan keuangan diaudit KAP dengan opini WTP?</a:t>
            </a:r>
            <a:endParaRPr lang="en-US" sz="759" dirty="0"/>
          </a:p>
        </p:txBody>
      </p:sp>
      <p:sp>
        <p:nvSpPr>
          <p:cNvPr id="27" name="Shape 22"/>
          <p:cNvSpPr/>
          <p:nvPr/>
        </p:nvSpPr>
        <p:spPr>
          <a:xfrm>
            <a:off x="592931" y="3725466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2931" y="3904952"/>
            <a:ext cx="342900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94" dirty="0"/>
          </a:p>
        </p:txBody>
      </p:sp>
      <p:sp>
        <p:nvSpPr>
          <p:cNvPr id="29" name="Text 24"/>
          <p:cNvSpPr/>
          <p:nvPr/>
        </p:nvSpPr>
        <p:spPr>
          <a:xfrm>
            <a:off x="892969" y="3890776"/>
            <a:ext cx="2754920" cy="12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Aspek diferensiasi mana yang terukur dan diakui eksternal?</a:t>
            </a:r>
            <a:endParaRPr lang="en-US" sz="759" dirty="0"/>
          </a:p>
        </p:txBody>
      </p:sp>
      <p:sp>
        <p:nvSpPr>
          <p:cNvPr id="30" name="Text 25"/>
          <p:cNvSpPr/>
          <p:nvPr/>
        </p:nvSpPr>
        <p:spPr>
          <a:xfrm>
            <a:off x="892969" y="4042358"/>
            <a:ext cx="28926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minimal 3 aspek</a:t>
            </a:r>
            <a:endParaRPr lang="en-US" sz="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992981"/>
            <a:ext cx="4057650" cy="342721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661297" y="996553"/>
            <a:ext cx="4050506" cy="3420070"/>
          </a:xfrm>
          <a:prstGeom prst="roundRect">
            <a:avLst>
              <a:gd name="adj" fmla="val 3899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822031" y="112871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195" dirty="0"/>
          </a:p>
        </p:txBody>
      </p:sp>
      <p:sp>
        <p:nvSpPr>
          <p:cNvPr id="34" name="Text 28"/>
          <p:cNvSpPr/>
          <p:nvPr/>
        </p:nvSpPr>
        <p:spPr>
          <a:xfrm>
            <a:off x="5000625" y="1135856"/>
            <a:ext cx="3550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KEPUTUSAN YANG DIMINTA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822031" y="1614264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36" name="Text 30"/>
          <p:cNvSpPr/>
          <p:nvPr/>
        </p:nvSpPr>
        <p:spPr>
          <a:xfrm>
            <a:off x="5043488" y="1614599"/>
            <a:ext cx="3551547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Sahkan 8 SPU sebagai program wajib task force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8383989" y="1599084"/>
            <a:ext cx="20077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72" dirty="0"/>
          </a:p>
        </p:txBody>
      </p:sp>
      <p:sp>
        <p:nvSpPr>
          <p:cNvPr id="38" name="Shape 32"/>
          <p:cNvSpPr/>
          <p:nvPr/>
        </p:nvSpPr>
        <p:spPr>
          <a:xfrm>
            <a:off x="4822031" y="2060525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822031" y="237105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40" name="Text 34"/>
          <p:cNvSpPr/>
          <p:nvPr/>
        </p:nvSpPr>
        <p:spPr>
          <a:xfrm>
            <a:off x="5043488" y="2371390"/>
            <a:ext cx="333133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Tetapkan 2–3 prodi prioritas Unggul/A beserta jadwal asesi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8383989" y="2355875"/>
            <a:ext cx="20077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72" dirty="0"/>
          </a:p>
        </p:txBody>
      </p:sp>
      <p:sp>
        <p:nvSpPr>
          <p:cNvPr id="42" name="Shape 36"/>
          <p:cNvSpPr/>
          <p:nvPr/>
        </p:nvSpPr>
        <p:spPr>
          <a:xfrm>
            <a:off x="4822031" y="2817316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822031" y="3127846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44" name="Text 38"/>
          <p:cNvSpPr/>
          <p:nvPr/>
        </p:nvSpPr>
        <p:spPr>
          <a:xfrm>
            <a:off x="5043488" y="3128181"/>
            <a:ext cx="333133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59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Anggarkan studi doktor, kenaikan jabatan, audit KAP, dan HKI</a:t>
            </a:r>
            <a:endParaRPr lang="en-US" sz="759" dirty="0"/>
          </a:p>
        </p:txBody>
      </p:sp>
      <p:sp>
        <p:nvSpPr>
          <p:cNvPr id="45" name="Text 39"/>
          <p:cNvSpPr/>
          <p:nvPr/>
        </p:nvSpPr>
        <p:spPr>
          <a:xfrm>
            <a:off x="8383989" y="3112666"/>
            <a:ext cx="20077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72" dirty="0"/>
          </a:p>
        </p:txBody>
      </p:sp>
      <p:sp>
        <p:nvSpPr>
          <p:cNvPr id="46" name="Shape 40"/>
          <p:cNvSpPr/>
          <p:nvPr/>
        </p:nvSpPr>
        <p:spPr>
          <a:xfrm>
            <a:off x="4822031" y="3574107"/>
            <a:ext cx="3729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822031" y="388463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48" name="Text 42"/>
          <p:cNvSpPr/>
          <p:nvPr/>
        </p:nvSpPr>
        <p:spPr>
          <a:xfrm>
            <a:off x="5043488" y="3884972"/>
            <a:ext cx="3331332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ritme rapat mingguan + tunjuk kurator data PD Dikti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8383989" y="3869457"/>
            <a:ext cx="200772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72" dirty="0"/>
          </a:p>
        </p:txBody>
      </p:sp>
      <p:sp>
        <p:nvSpPr>
          <p:cNvPr id="50" name="Text 44"/>
          <p:cNvSpPr/>
          <p:nvPr/>
        </p:nvSpPr>
        <p:spPr>
          <a:xfrm>
            <a:off x="432197" y="4538067"/>
            <a:ext cx="8279606" cy="301823"/>
          </a:xfrm>
          <a:prstGeom prst="roundRect">
            <a:avLst>
              <a:gd name="adj" fmla="val 44182"/>
            </a:avLst>
          </a:prstGeom>
          <a:solidFill>
            <a:srgbClr val="11294A">
              <a:alpha val="50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564356" y="462825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52" name="Text 46"/>
          <p:cNvSpPr/>
          <p:nvPr/>
        </p:nvSpPr>
        <p:spPr>
          <a:xfrm>
            <a:off x="771525" y="4627364"/>
            <a:ext cx="168180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SPU punya pemilik akun di aplikasi:</a:t>
            </a:r>
            <a:endParaRPr lang="en-US" sz="647" dirty="0"/>
          </a:p>
        </p:txBody>
      </p:sp>
      <p:sp>
        <p:nvSpPr>
          <p:cNvPr id="53" name="Text 47"/>
          <p:cNvSpPr/>
          <p:nvPr/>
        </p:nvSpPr>
        <p:spPr>
          <a:xfrm>
            <a:off x="2414476" y="4627364"/>
            <a:ext cx="616516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ppmk1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(butir 1, 2, 4)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ppmk21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(7A, 11)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ppmk3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(35)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ppmk4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(36A, 39)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-1857375"/>
            <a:ext cx="4857750" cy="485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0" y="-1857375"/>
            <a:ext cx="4857750" cy="4857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285875" y="3714750"/>
            <a:ext cx="3143250" cy="3143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285875" y="3714750"/>
            <a:ext cx="3143250" cy="31432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642870" y="1063637"/>
            <a:ext cx="7501130" cy="1813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19"/>
              </a:lnSpc>
              <a:buNone/>
            </a:pPr>
            <a:r>
              <a:rPr lang="en-US" sz="13219" spc="-397" kern="0" dirty="0">
                <a:solidFill>
                  <a:srgbClr val="38BDF8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3219"/>
              </a:lnSpc>
              <a:buNone/>
            </a:pPr>
            <a:r>
              <a:rPr lang="en-US" sz="5625" spc="-397" kern="0" dirty="0">
                <a:solidFill>
                  <a:srgbClr val="38BDF8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02</a:t>
            </a:r>
            <a:endParaRPr lang="en-US" sz="13219" dirty="0"/>
          </a:p>
        </p:txBody>
      </p:sp>
      <p:sp>
        <p:nvSpPr>
          <p:cNvPr id="7" name="Text 3"/>
          <p:cNvSpPr/>
          <p:nvPr/>
        </p:nvSpPr>
        <p:spPr>
          <a:xfrm>
            <a:off x="428625" y="5000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spc="15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BAGIAN KEDUA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8625" y="766167"/>
            <a:ext cx="6757988" cy="4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29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Bedah Enam Kelompok Kriteria</a:t>
            </a:r>
            <a:endParaRPr lang="en-US" sz="2925" dirty="0"/>
          </a:p>
        </p:txBody>
      </p:sp>
      <p:sp>
        <p:nvSpPr>
          <p:cNvPr id="9" name="Text 5"/>
          <p:cNvSpPr/>
          <p:nvPr/>
        </p:nvSpPr>
        <p:spPr>
          <a:xfrm>
            <a:off x="428625" y="1295921"/>
            <a:ext cx="542925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65 butir dibaca searah kerja instrumen: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Masukan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Luaran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95"/>
              </a:lnSpc>
              <a:buNone/>
            </a:pPr>
            <a:r>
              <a:rPr lang="en-US" sz="872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Dampak.</a:t>
            </a:r>
            <a:endParaRPr lang="en-US" sz="87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744526"/>
            <a:ext cx="8286750" cy="7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2197" y="1955267"/>
            <a:ext cx="1707691" cy="244673"/>
          </a:xfrm>
          <a:prstGeom prst="roundRect">
            <a:avLst>
              <a:gd name="adj" fmla="val 3889058"/>
            </a:avLst>
          </a:prstGeom>
          <a:solidFill>
            <a:srgbClr val="11294A">
              <a:alpha val="42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50069" y="2056172"/>
            <a:ext cx="42863" cy="42863"/>
          </a:xfrm>
          <a:prstGeom prst="roundRect">
            <a:avLst>
              <a:gd name="adj" fmla="val 4444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50081" y="2015989"/>
            <a:ext cx="58627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099468" y="2015989"/>
            <a:ext cx="92254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kebijakan &amp; sumber daya</a:t>
            </a:r>
            <a:endParaRPr lang="en-US" sz="647" dirty="0"/>
          </a:p>
        </p:txBody>
      </p:sp>
      <p:sp>
        <p:nvSpPr>
          <p:cNvPr id="15" name="Text 10"/>
          <p:cNvSpPr/>
          <p:nvPr/>
        </p:nvSpPr>
        <p:spPr>
          <a:xfrm>
            <a:off x="2229185" y="1938893"/>
            <a:ext cx="1202271" cy="277420"/>
          </a:xfrm>
          <a:prstGeom prst="roundRect">
            <a:avLst>
              <a:gd name="adj" fmla="val 3429989"/>
            </a:avLst>
          </a:prstGeom>
          <a:solidFill>
            <a:srgbClr val="11294A">
              <a:alpha val="42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2350629" y="2056172"/>
            <a:ext cx="42863" cy="42863"/>
          </a:xfrm>
          <a:prstGeom prst="roundRect">
            <a:avLst>
              <a:gd name="adj" fmla="val 4444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2450641" y="2015989"/>
            <a:ext cx="5025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785376" y="2015989"/>
            <a:ext cx="58325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pelaksanaan</a:t>
            </a:r>
            <a:endParaRPr lang="en-US" sz="647" dirty="0"/>
          </a:p>
        </p:txBody>
      </p:sp>
      <p:sp>
        <p:nvSpPr>
          <p:cNvPr id="19" name="Text 14"/>
          <p:cNvSpPr/>
          <p:nvPr/>
        </p:nvSpPr>
        <p:spPr>
          <a:xfrm>
            <a:off x="3517181" y="1938893"/>
            <a:ext cx="1183742" cy="277420"/>
          </a:xfrm>
          <a:prstGeom prst="roundRect">
            <a:avLst>
              <a:gd name="adj" fmla="val 3429989"/>
            </a:avLst>
          </a:prstGeom>
          <a:solidFill>
            <a:srgbClr val="11294A">
              <a:alpha val="42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638624" y="2056172"/>
            <a:ext cx="42863" cy="42863"/>
          </a:xfrm>
          <a:prstGeom prst="roundRect">
            <a:avLst>
              <a:gd name="adj" fmla="val 4444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738637" y="2015989"/>
            <a:ext cx="5025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LUARAN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025331" y="2015989"/>
            <a:ext cx="66080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hasil terukur</a:t>
            </a:r>
            <a:endParaRPr lang="en-US" sz="647" dirty="0"/>
          </a:p>
        </p:txBody>
      </p:sp>
      <p:sp>
        <p:nvSpPr>
          <p:cNvPr id="23" name="Text 18"/>
          <p:cNvSpPr/>
          <p:nvPr/>
        </p:nvSpPr>
        <p:spPr>
          <a:xfrm>
            <a:off x="4790219" y="1955267"/>
            <a:ext cx="1491928" cy="244673"/>
          </a:xfrm>
          <a:prstGeom prst="roundRect">
            <a:avLst>
              <a:gd name="adj" fmla="val 3889058"/>
            </a:avLst>
          </a:prstGeom>
          <a:solidFill>
            <a:srgbClr val="11294A">
              <a:alpha val="42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908091" y="2056172"/>
            <a:ext cx="42863" cy="42863"/>
          </a:xfrm>
          <a:prstGeom prst="roundRect">
            <a:avLst>
              <a:gd name="adj" fmla="val 4444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008104" y="2015989"/>
            <a:ext cx="50251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DAMPAK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401456" y="2015989"/>
            <a:ext cx="76281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eksternal</a:t>
            </a:r>
            <a:endParaRPr lang="en-US" sz="647" dirty="0"/>
          </a:p>
        </p:txBody>
      </p:sp>
      <p:sp>
        <p:nvSpPr>
          <p:cNvPr id="27" name="Text 22"/>
          <p:cNvSpPr/>
          <p:nvPr/>
        </p:nvSpPr>
        <p:spPr>
          <a:xfrm>
            <a:off x="428625" y="4093369"/>
            <a:ext cx="8636000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35" kern="0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ENAM KELOMPOK · 65 BUTIR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32197" y="4275534"/>
            <a:ext cx="8279606" cy="478631"/>
          </a:xfrm>
          <a:prstGeom prst="roundRect">
            <a:avLst>
              <a:gd name="adj" fmla="val 23881"/>
            </a:avLst>
          </a:prstGeom>
          <a:solidFill>
            <a:srgbClr val="11294A">
              <a:alpha val="4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1045555" y="4279106"/>
            <a:ext cx="0" cy="47148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21494" y="4350544"/>
            <a:ext cx="4347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21494" y="4457700"/>
            <a:ext cx="4347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94" dirty="0"/>
          </a:p>
        </p:txBody>
      </p:sp>
      <p:sp>
        <p:nvSpPr>
          <p:cNvPr id="32" name="Shape 27"/>
          <p:cNvSpPr/>
          <p:nvPr/>
        </p:nvSpPr>
        <p:spPr>
          <a:xfrm>
            <a:off x="3643982" y="4279106"/>
            <a:ext cx="0" cy="47148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149139" y="4350544"/>
            <a:ext cx="239125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K.2.1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149139" y="4457700"/>
            <a:ext cx="23912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1294" dirty="0"/>
          </a:p>
        </p:txBody>
      </p:sp>
      <p:sp>
        <p:nvSpPr>
          <p:cNvPr id="35" name="Shape 30"/>
          <p:cNvSpPr/>
          <p:nvPr/>
        </p:nvSpPr>
        <p:spPr>
          <a:xfrm>
            <a:off x="4720679" y="4279106"/>
            <a:ext cx="0" cy="47148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747567" y="4350544"/>
            <a:ext cx="8695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K.2.2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3747567" y="4457700"/>
            <a:ext cx="869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94" dirty="0"/>
          </a:p>
        </p:txBody>
      </p:sp>
      <p:sp>
        <p:nvSpPr>
          <p:cNvPr id="38" name="Shape 33"/>
          <p:cNvSpPr/>
          <p:nvPr/>
        </p:nvSpPr>
        <p:spPr>
          <a:xfrm>
            <a:off x="5797376" y="4279106"/>
            <a:ext cx="0" cy="47148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824264" y="4350544"/>
            <a:ext cx="8695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K.2.3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824264" y="4457700"/>
            <a:ext cx="869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94" dirty="0"/>
          </a:p>
        </p:txBody>
      </p:sp>
      <p:sp>
        <p:nvSpPr>
          <p:cNvPr id="41" name="Shape 36"/>
          <p:cNvSpPr/>
          <p:nvPr/>
        </p:nvSpPr>
        <p:spPr>
          <a:xfrm>
            <a:off x="7961040" y="4279106"/>
            <a:ext cx="0" cy="47148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900961" y="4350544"/>
            <a:ext cx="195649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K.3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5900961" y="4457700"/>
            <a:ext cx="1956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1294" dirty="0"/>
          </a:p>
        </p:txBody>
      </p:sp>
      <p:sp>
        <p:nvSpPr>
          <p:cNvPr id="44" name="Text 39"/>
          <p:cNvSpPr/>
          <p:nvPr/>
        </p:nvSpPr>
        <p:spPr>
          <a:xfrm>
            <a:off x="8064624" y="4350544"/>
            <a:ext cx="6436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K.4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8064624" y="4457700"/>
            <a:ext cx="643607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9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-1143000" y="-1571625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143000" y="-1571625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298997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949762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</a:t>
            </a:r>
            <a:endParaRPr lang="en-US" sz="2588" dirty="0"/>
          </a:p>
        </p:txBody>
      </p:sp>
      <p:sp>
        <p:nvSpPr>
          <p:cNvPr id="6" name="Text 3"/>
          <p:cNvSpPr/>
          <p:nvPr/>
        </p:nvSpPr>
        <p:spPr>
          <a:xfrm>
            <a:off x="1121671" y="515020"/>
            <a:ext cx="181370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Budaya Mutu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6738704" y="620390"/>
            <a:ext cx="1976671" cy="202758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butir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SPU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pemilik akun: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ppmk1</a:t>
            </a:r>
            <a:endParaRPr lang="en-US" sz="64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2207"/>
            <a:ext cx="8286750" cy="71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93651"/>
            <a:ext cx="1910953" cy="29675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2197" y="997223"/>
            <a:ext cx="1903809" cy="2960415"/>
          </a:xfrm>
          <a:prstGeom prst="roundRect">
            <a:avLst>
              <a:gd name="adj" fmla="val 700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50069" y="1129382"/>
            <a:ext cx="1410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963828" y="1106951"/>
            <a:ext cx="265280" cy="152019"/>
          </a:xfrm>
          <a:prstGeom prst="roundRect">
            <a:avLst>
              <a:gd name="adj" fmla="val 3759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967192" y="1115095"/>
            <a:ext cx="258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50069" y="1336551"/>
            <a:ext cx="1668066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</a:t>
            </a:r>
            <a:endParaRPr lang="en-US" sz="872" dirty="0"/>
          </a:p>
        </p:txBody>
      </p:sp>
      <p:sp>
        <p:nvSpPr>
          <p:cNvPr id="15" name="Text 10"/>
          <p:cNvSpPr/>
          <p:nvPr/>
        </p:nvSpPr>
        <p:spPr>
          <a:xfrm>
            <a:off x="550069" y="1531218"/>
            <a:ext cx="1668066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SPMI: standar, tata kelola, evaluasi, peningkatan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50069" y="3520083"/>
            <a:ext cx="1668066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50069" y="3595092"/>
            <a:ext cx="166806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 UNGGUL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50069" y="3730823"/>
            <a:ext cx="166806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SPMI 4 aspek efektif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343150" y="237384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891" y="993651"/>
            <a:ext cx="1910953" cy="29675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557463" y="997223"/>
            <a:ext cx="1903809" cy="2960415"/>
          </a:xfrm>
          <a:prstGeom prst="roundRect">
            <a:avLst>
              <a:gd name="adj" fmla="val 700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2675334" y="1129382"/>
            <a:ext cx="1410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089093" y="1106951"/>
            <a:ext cx="265280" cy="152019"/>
          </a:xfrm>
          <a:prstGeom prst="roundRect">
            <a:avLst>
              <a:gd name="adj" fmla="val 3759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092457" y="1115095"/>
            <a:ext cx="258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2675334" y="1336551"/>
            <a:ext cx="1668066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2</a:t>
            </a:r>
            <a:endParaRPr lang="en-US" sz="872" dirty="0"/>
          </a:p>
        </p:txBody>
      </p:sp>
      <p:sp>
        <p:nvSpPr>
          <p:cNvPr id="26" name="Text 20"/>
          <p:cNvSpPr/>
          <p:nvPr/>
        </p:nvSpPr>
        <p:spPr>
          <a:xfrm>
            <a:off x="2675334" y="1531218"/>
            <a:ext cx="1768150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Implementasi siklus PPEPP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2675334" y="3520083"/>
            <a:ext cx="1668066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675334" y="3595092"/>
            <a:ext cx="166806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 UNGGUL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675334" y="3730823"/>
            <a:ext cx="166806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PPEPP berfungsi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468416" y="237384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993651"/>
            <a:ext cx="1910953" cy="296755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82728" y="997223"/>
            <a:ext cx="1903809" cy="2960415"/>
          </a:xfrm>
          <a:prstGeom prst="roundRect">
            <a:avLst>
              <a:gd name="adj" fmla="val 700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800600" y="1115095"/>
            <a:ext cx="16680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LUARAN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800600" y="1307976"/>
            <a:ext cx="1668066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</a:t>
            </a:r>
            <a:endParaRPr lang="en-US" sz="872" dirty="0"/>
          </a:p>
        </p:txBody>
      </p:sp>
      <p:sp>
        <p:nvSpPr>
          <p:cNvPr id="35" name="Text 28"/>
          <p:cNvSpPr/>
          <p:nvPr/>
        </p:nvSpPr>
        <p:spPr>
          <a:xfrm>
            <a:off x="4800600" y="1502643"/>
            <a:ext cx="1668066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implementasi SPMI &amp; konsistensi data PD Dikti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4800600" y="3520083"/>
            <a:ext cx="1668066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00600" y="3595092"/>
            <a:ext cx="166806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 UNGGUL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4800600" y="3730823"/>
            <a:ext cx="166806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PD Dikti konsisten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593681" y="237384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422" y="993651"/>
            <a:ext cx="1910953" cy="296755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07994" y="997223"/>
            <a:ext cx="1903809" cy="2960415"/>
          </a:xfrm>
          <a:prstGeom prst="roundRect">
            <a:avLst>
              <a:gd name="adj" fmla="val 700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925866" y="1129382"/>
            <a:ext cx="1410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DAMPAK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8339624" y="1106951"/>
            <a:ext cx="265280" cy="152019"/>
          </a:xfrm>
          <a:prstGeom prst="roundRect">
            <a:avLst>
              <a:gd name="adj" fmla="val 3759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8342988" y="1115095"/>
            <a:ext cx="258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925866" y="1336551"/>
            <a:ext cx="1668066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4</a:t>
            </a:r>
            <a:endParaRPr lang="en-US" sz="872" dirty="0"/>
          </a:p>
        </p:txBody>
      </p:sp>
      <p:sp>
        <p:nvSpPr>
          <p:cNvPr id="46" name="Text 38"/>
          <p:cNvSpPr/>
          <p:nvPr/>
        </p:nvSpPr>
        <p:spPr>
          <a:xfrm>
            <a:off x="6925866" y="1531218"/>
            <a:ext cx="1668066" cy="159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Akreditasi program studi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6925866" y="3520083"/>
            <a:ext cx="1668066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925866" y="3595092"/>
            <a:ext cx="1668066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E8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 UNGGUL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6925866" y="3730823"/>
            <a:ext cx="166806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Prodi Unggul/A ≥ 20%</a:t>
            </a:r>
            <a:endParaRPr lang="en-US" sz="8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061222"/>
            <a:ext cx="8286750" cy="34468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32197" y="4064794"/>
            <a:ext cx="8279606" cy="337542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564356" y="4179987"/>
            <a:ext cx="944737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1269578" y="4161234"/>
            <a:ext cx="7144" cy="144661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1391022" y="4161234"/>
            <a:ext cx="718862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Kurasi dokumen SPMI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implementasi PPEPP per standar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RTM &amp; audit internal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laporan tahunan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sinkronisasi data PD Dikti.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432197" y="4495205"/>
            <a:ext cx="8279606" cy="344686"/>
          </a:xfrm>
          <a:prstGeom prst="roundRect">
            <a:avLst>
              <a:gd name="adj" fmla="val 33161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564356" y="4613970"/>
            <a:ext cx="78823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1171687" y="4591645"/>
            <a:ext cx="7144" cy="151805"/>
          </a:xfrm>
          <a:prstGeom prst="rect">
            <a:avLst/>
          </a:prstGeom>
          <a:solidFill>
            <a:srgbClr val="38BDF8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1293130" y="4591645"/>
            <a:ext cx="728651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K.1 hanya 4 butir tetapi 3 di antaranya indikator wajib (SPU) — selesaikan paling awal; satu kurator dokumen; kalender RTM dikunci 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Desember 2026</a:t>
            </a:r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643688" y="-1643062"/>
            <a:ext cx="3714750" cy="3714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3688" y="-1643062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466986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1582876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K.2.1</a:t>
            </a:r>
            <a:endParaRPr lang="en-US" sz="2588" dirty="0"/>
          </a:p>
        </p:txBody>
      </p:sp>
      <p:sp>
        <p:nvSpPr>
          <p:cNvPr id="6" name="Text 3"/>
          <p:cNvSpPr/>
          <p:nvPr/>
        </p:nvSpPr>
        <p:spPr>
          <a:xfrm>
            <a:off x="1532223" y="515020"/>
            <a:ext cx="249839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Relevansi Pendidikan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5990686" y="620390"/>
            <a:ext cx="2724689" cy="202758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butir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(34% dari total)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SPU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pemilik: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ppmk21</a:t>
            </a:r>
            <a:endParaRPr lang="en-US" sz="64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2207"/>
            <a:ext cx="8286750" cy="71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93651"/>
            <a:ext cx="4071938" cy="31595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2197" y="997223"/>
            <a:ext cx="4064794" cy="3152403"/>
          </a:xfrm>
          <a:prstGeom prst="roundRect">
            <a:avLst>
              <a:gd name="adj" fmla="val 4230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64356" y="1100807"/>
            <a:ext cx="33990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MASUKAN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3947991" y="1100807"/>
            <a:ext cx="4465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5–9</a:t>
            </a:r>
            <a:endParaRPr lang="en-US" sz="600" dirty="0"/>
          </a:p>
        </p:txBody>
      </p:sp>
      <p:sp>
        <p:nvSpPr>
          <p:cNvPr id="13" name="Shape 8"/>
          <p:cNvSpPr/>
          <p:nvPr/>
        </p:nvSpPr>
        <p:spPr>
          <a:xfrm>
            <a:off x="564356" y="1261542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64356" y="1346820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64369" y="1297260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kurikulum OBE berbasis analisis kebutuhan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64356" y="1467929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64356" y="1553208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64369" y="1503648"/>
            <a:ext cx="3700463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Renstra SDM dosen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64356" y="1674316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4356" y="1759595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64369" y="1710035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tenaga kependidikan memadai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64356" y="1880704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64356" y="1969554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64369" y="1916423"/>
            <a:ext cx="3700463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rasio mahasiswa/dosen tetap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20–40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64356" y="2094235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64356" y="2183085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64369" y="2129954"/>
            <a:ext cx="3700463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dosen cukup per prodi </a:t>
            </a:r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(SPU-4: doktor ≥ 20%)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64356" y="2307766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64356" y="2396617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64369" y="2343485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PDTT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40%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64356" y="2521297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4356" y="2606576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64369" y="2557016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sarpras berbasis TIK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564356" y="3262573"/>
            <a:ext cx="32269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750436" y="3262573"/>
            <a:ext cx="669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10A–10C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564356" y="3423307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64356" y="3508586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64369" y="3459026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perbaikan proses pembelajaran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64356" y="3629695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64356" y="3718545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64369" y="3665413"/>
            <a:ext cx="3700463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10%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mahasiswa mengambil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 sks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 luar prodi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564356" y="3843226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64356" y="3928504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64369" y="3878945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suasana pembelajaran kondusif &amp; inklusif</a:t>
            </a:r>
            <a:endParaRPr lang="en-US" sz="8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993651"/>
            <a:ext cx="4071938" cy="3159547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647009" y="997223"/>
            <a:ext cx="4064794" cy="3152403"/>
          </a:xfrm>
          <a:prstGeom prst="roundRect">
            <a:avLst>
              <a:gd name="adj" fmla="val 4230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779169" y="1100807"/>
            <a:ext cx="33130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LUARAN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8064026" y="1100807"/>
            <a:ext cx="558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11–13</a:t>
            </a:r>
            <a:endParaRPr lang="en-US" sz="600" dirty="0"/>
          </a:p>
        </p:txBody>
      </p:sp>
      <p:sp>
        <p:nvSpPr>
          <p:cNvPr id="49" name="Shape 43"/>
          <p:cNvSpPr/>
          <p:nvPr/>
        </p:nvSpPr>
        <p:spPr>
          <a:xfrm>
            <a:off x="4779169" y="1261542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779169" y="1350392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4879181" y="1297260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DTJA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10%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(SPU-5)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4779169" y="1475073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4779169" y="1563923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4879181" y="1510792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RPL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20%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4779169" y="1688604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4779169" y="1777454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4879181" y="1724323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PKMTK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 35%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4779169" y="1902135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4779169" y="1990985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4879181" y="1937854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PK2MTK &gt; 60%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4779169" y="2115666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4779169" y="2204517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4879181" y="2151385"/>
            <a:ext cx="3700463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pendidikan antikorupsi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4 sks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4779169" y="2835511"/>
            <a:ext cx="33130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DAMPAK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8064026" y="2835511"/>
            <a:ext cx="558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14–15</a:t>
            </a:r>
            <a:endParaRPr lang="en-US" sz="600" dirty="0"/>
          </a:p>
        </p:txBody>
      </p:sp>
      <p:sp>
        <p:nvSpPr>
          <p:cNvPr id="66" name="Shape 60"/>
          <p:cNvSpPr/>
          <p:nvPr/>
        </p:nvSpPr>
        <p:spPr>
          <a:xfrm>
            <a:off x="4779169" y="2996245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4779169" y="3081524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4879181" y="3031964"/>
            <a:ext cx="3700463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kompetensi lulusan</a:t>
            </a:r>
            <a:endParaRPr lang="en-US" sz="800" dirty="0"/>
          </a:p>
        </p:txBody>
      </p:sp>
      <p:sp>
        <p:nvSpPr>
          <p:cNvPr id="69" name="Shape 63"/>
          <p:cNvSpPr/>
          <p:nvPr/>
        </p:nvSpPr>
        <p:spPr>
          <a:xfrm>
            <a:off x="4779169" y="3202632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4779169" y="3287911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4879181" y="3238351"/>
            <a:ext cx="3700463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kepuasan pengguna</a:t>
            </a:r>
            <a:endParaRPr lang="en-US" sz="800" dirty="0"/>
          </a:p>
        </p:txBody>
      </p:sp>
      <p:sp>
        <p:nvSpPr>
          <p:cNvPr id="72" name="Shape 66"/>
          <p:cNvSpPr/>
          <p:nvPr/>
        </p:nvSpPr>
        <p:spPr>
          <a:xfrm>
            <a:off x="4779169" y="3409020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4779169" y="3497870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8"/>
          <p:cNvSpPr/>
          <p:nvPr/>
        </p:nvSpPr>
        <p:spPr>
          <a:xfrm>
            <a:off x="4879181" y="3444739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PPM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20%</a:t>
            </a:r>
            <a:endParaRPr lang="en-US" sz="800" dirty="0"/>
          </a:p>
        </p:txBody>
      </p:sp>
      <p:sp>
        <p:nvSpPr>
          <p:cNvPr id="75" name="Shape 69"/>
          <p:cNvSpPr/>
          <p:nvPr/>
        </p:nvSpPr>
        <p:spPr>
          <a:xfrm>
            <a:off x="4779169" y="3622551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4779169" y="3711401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4879181" y="3658270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PMAP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 0,01%</a:t>
            </a:r>
            <a:endParaRPr lang="en-US" sz="800" dirty="0"/>
          </a:p>
        </p:txBody>
      </p:sp>
      <p:sp>
        <p:nvSpPr>
          <p:cNvPr id="78" name="Shape 72"/>
          <p:cNvSpPr/>
          <p:nvPr/>
        </p:nvSpPr>
        <p:spPr>
          <a:xfrm>
            <a:off x="4779169" y="3836082"/>
            <a:ext cx="38004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4779169" y="3924933"/>
            <a:ext cx="35719" cy="35719"/>
          </a:xfrm>
          <a:prstGeom prst="roundRect">
            <a:avLst>
              <a:gd name="adj" fmla="val 53333"/>
            </a:avLst>
          </a:prstGeom>
          <a:solidFill>
            <a:srgbClr val="38BDF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4"/>
          <p:cNvSpPr/>
          <p:nvPr/>
        </p:nvSpPr>
        <p:spPr>
          <a:xfrm>
            <a:off x="4879181" y="3871801"/>
            <a:ext cx="3700463" cy="14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PLLK 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 20%</a:t>
            </a:r>
            <a:endParaRPr lang="en-US" sz="800" dirty="0"/>
          </a:p>
        </p:txBody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253210"/>
            <a:ext cx="3778709" cy="590252"/>
          </a:xfrm>
          <a:prstGeom prst="rect">
            <a:avLst/>
          </a:prstGeom>
        </p:spPr>
      </p:pic>
      <p:sp>
        <p:nvSpPr>
          <p:cNvPr id="82" name="Text 75"/>
          <p:cNvSpPr/>
          <p:nvPr/>
        </p:nvSpPr>
        <p:spPr>
          <a:xfrm>
            <a:off x="432197" y="4256782"/>
            <a:ext cx="3771565" cy="583109"/>
          </a:xfrm>
          <a:prstGeom prst="roundRect">
            <a:avLst>
              <a:gd name="adj" fmla="val 22869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6"/>
          <p:cNvSpPr/>
          <p:nvPr/>
        </p:nvSpPr>
        <p:spPr>
          <a:xfrm>
            <a:off x="550069" y="4346079"/>
            <a:ext cx="353582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84" name="Text 77"/>
          <p:cNvSpPr/>
          <p:nvPr/>
        </p:nvSpPr>
        <p:spPr>
          <a:xfrm>
            <a:off x="550069" y="4496098"/>
            <a:ext cx="3535821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Koordinasi kurikulum OBE antarprodi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monitoring pembelajaran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pemantauan kelulusan &amp; tracer study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program peningkatan daya saing lulusan.</a:t>
            </a:r>
            <a:endParaRPr lang="en-US" sz="800" dirty="0"/>
          </a:p>
        </p:txBody>
      </p:sp>
      <p:sp>
        <p:nvSpPr>
          <p:cNvPr id="85" name="Text 78"/>
          <p:cNvSpPr/>
          <p:nvPr/>
        </p:nvSpPr>
        <p:spPr>
          <a:xfrm>
            <a:off x="4325206" y="4256782"/>
            <a:ext cx="4386597" cy="583109"/>
          </a:xfrm>
          <a:prstGeom prst="roundRect">
            <a:avLst>
              <a:gd name="adj" fmla="val 22869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4443078" y="4346079"/>
            <a:ext cx="415085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87" name="Text 80"/>
          <p:cNvSpPr/>
          <p:nvPr/>
        </p:nvSpPr>
        <p:spPr>
          <a:xfrm>
            <a:off x="4443078" y="4496098"/>
            <a:ext cx="4150854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Kelulusan &amp; tracer = data tren 3 tahun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(L08–L17)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mulai kumpulkan sekarang; butir 10B diisi magang/pertukaran/proyek; dua SPU di kriteria ini menuntut keputusan SDM tahun ini.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429375" y="30003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300037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4458252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1582876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K.2.2</a:t>
            </a:r>
            <a:endParaRPr lang="en-US" sz="2588" dirty="0"/>
          </a:p>
        </p:txBody>
      </p:sp>
      <p:sp>
        <p:nvSpPr>
          <p:cNvPr id="6" name="Text 3"/>
          <p:cNvSpPr/>
          <p:nvPr/>
        </p:nvSpPr>
        <p:spPr>
          <a:xfrm>
            <a:off x="1532223" y="515020"/>
            <a:ext cx="2332674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Relevansi Penelitian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6952320" y="620390"/>
            <a:ext cx="1763055" cy="202758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butir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SPU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pemilik: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ppmk22</a:t>
            </a:r>
            <a:endParaRPr lang="en-US" sz="64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2207"/>
            <a:ext cx="8286750" cy="71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93651"/>
            <a:ext cx="2914650" cy="3246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2197" y="997223"/>
            <a:ext cx="2907506" cy="3239021"/>
          </a:xfrm>
          <a:prstGeom prst="roundRect">
            <a:avLst>
              <a:gd name="adj" fmla="val 4586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78644" y="1129382"/>
            <a:ext cx="2614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DAFTAR BUTIR PER SASARAN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21506" y="1393701"/>
            <a:ext cx="7144" cy="2667521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92931" y="1357982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50094" y="1336551"/>
            <a:ext cx="24431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50094" y="1486570"/>
            <a:ext cx="2552891" cy="16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16A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renstra &amp; peta jalan penelitian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50094" y="1664382"/>
            <a:ext cx="2552891" cy="16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16B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pedoman &amp; pengembangan peneliti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92931" y="2128614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50094" y="2107183"/>
            <a:ext cx="24431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50094" y="2257202"/>
            <a:ext cx="2552891" cy="16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17A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penelitian berintegritas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50094" y="2435014"/>
            <a:ext cx="2552891" cy="16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17B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tata kelola &amp; budaya penelitian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92931" y="2899246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750094" y="2877815"/>
            <a:ext cx="24431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LUARAN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50094" y="3027834"/>
            <a:ext cx="2443163" cy="16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18A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analisis luaran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750094" y="3205646"/>
            <a:ext cx="2443163" cy="16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18B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ketercapaian target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50094" y="3383459"/>
            <a:ext cx="2443163" cy="16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18C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RLP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92931" y="3847691"/>
            <a:ext cx="64294" cy="64294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50094" y="3826259"/>
            <a:ext cx="24431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DAMPAK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50094" y="3976278"/>
            <a:ext cx="2552891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pengakuan bidang penelitian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993651"/>
            <a:ext cx="5229225" cy="24686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489722" y="997223"/>
            <a:ext cx="5222081" cy="2461468"/>
          </a:xfrm>
          <a:prstGeom prst="roundRect">
            <a:avLst>
              <a:gd name="adj" fmla="val 5417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693319" y="1902916"/>
            <a:ext cx="21408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AMBANG UNGGUL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3693319" y="2095798"/>
            <a:ext cx="2043827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100%</a:t>
            </a:r>
            <a:endParaRPr lang="en-US" sz="3600" dirty="0"/>
          </a:p>
        </p:txBody>
      </p:sp>
      <p:sp>
        <p:nvSpPr>
          <p:cNvPr id="33" name="Text 27"/>
          <p:cNvSpPr/>
          <p:nvPr/>
        </p:nvSpPr>
        <p:spPr>
          <a:xfrm>
            <a:off x="5490083" y="1172245"/>
            <a:ext cx="7144" cy="2111425"/>
          </a:xfrm>
          <a:prstGeom prst="rect">
            <a:avLst/>
          </a:prstGeom>
          <a:solidFill>
            <a:srgbClr val="38BDF8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697252" y="1938300"/>
            <a:ext cx="2920682" cy="23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29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RLP — rasio luaran publikasi</a:t>
            </a:r>
            <a:endParaRPr lang="en-US" sz="1294" dirty="0"/>
          </a:p>
        </p:txBody>
      </p:sp>
      <p:sp>
        <p:nvSpPr>
          <p:cNvPr id="35" name="Text 29"/>
          <p:cNvSpPr/>
          <p:nvPr/>
        </p:nvSpPr>
        <p:spPr>
          <a:xfrm>
            <a:off x="5697252" y="2208981"/>
            <a:ext cx="2810954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total luaran ÷ dosen tetap. Termasuk jurnal Sinta, internasional bereputasi, prosiding, media massa.</a:t>
            </a:r>
            <a:endParaRPr lang="en-US" sz="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576563"/>
            <a:ext cx="5229225" cy="66325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489722" y="3580135"/>
            <a:ext cx="5222081" cy="656109"/>
          </a:xfrm>
          <a:prstGeom prst="roundRect">
            <a:avLst>
              <a:gd name="adj" fmla="val 2032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621881" y="3683719"/>
            <a:ext cx="49577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3621881" y="3833738"/>
            <a:ext cx="4957763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Tema mengikuti diferensiasi misi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klaster/grup riset kecil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dana internal &amp; mitra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luaran terjadwal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HKI &amp; rekognisi.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432197" y="4343400"/>
            <a:ext cx="8279606" cy="496491"/>
          </a:xfrm>
          <a:prstGeom prst="roundRect">
            <a:avLst>
              <a:gd name="adj" fmla="val 23022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564356" y="4538067"/>
            <a:ext cx="7882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1171687" y="4439841"/>
            <a:ext cx="7144" cy="303609"/>
          </a:xfrm>
          <a:prstGeom prst="rect">
            <a:avLst/>
          </a:prstGeom>
          <a:solidFill>
            <a:srgbClr val="38BDF8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1293130" y="4439841"/>
            <a:ext cx="728651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RLP 100% = setara satu luaran per dosen tetap per 3 tahun — susun target per dosen; daftar dosen tanpa luaran = daftar tugas PPM; tabel penopang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L19 &amp; L21 (Tabel 21 &amp; 22a)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429375" y="-1714500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-1714500"/>
            <a:ext cx="3857625" cy="3857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328613"/>
            <a:ext cx="3711169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28625" y="492919"/>
            <a:ext cx="1582876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258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K.2.3</a:t>
            </a:r>
            <a:endParaRPr lang="en-US" sz="2588" dirty="0"/>
          </a:p>
        </p:txBody>
      </p:sp>
      <p:sp>
        <p:nvSpPr>
          <p:cNvPr id="6" name="Text 3"/>
          <p:cNvSpPr/>
          <p:nvPr/>
        </p:nvSpPr>
        <p:spPr>
          <a:xfrm>
            <a:off x="1427724" y="515020"/>
            <a:ext cx="215965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Relevansi PkM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6952320" y="620390"/>
            <a:ext cx="1763055" cy="202758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butir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SPU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pemilik: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ppmk23</a:t>
            </a:r>
            <a:endParaRPr lang="en-US" sz="64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2207"/>
            <a:ext cx="8286750" cy="71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007938"/>
            <a:ext cx="1985963" cy="234783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28625" y="1018654"/>
            <a:ext cx="1985963" cy="0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411016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28625" y="3352205"/>
            <a:ext cx="1985963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2197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50069" y="1144563"/>
            <a:ext cx="1629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2169160" y="1136526"/>
            <a:ext cx="14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47" dirty="0"/>
          </a:p>
        </p:txBody>
      </p:sp>
      <p:sp>
        <p:nvSpPr>
          <p:cNvPr id="16" name="Text 11"/>
          <p:cNvSpPr/>
          <p:nvPr/>
        </p:nvSpPr>
        <p:spPr>
          <a:xfrm>
            <a:off x="550069" y="1928143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20A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50069" y="2087091"/>
            <a:ext cx="1743075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renstra &amp; peta jalan PkM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50069" y="2289907"/>
            <a:ext cx="17430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50069" y="2357772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20B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50069" y="2516721"/>
            <a:ext cx="1847660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pedoman &amp; pengembangan kepakaran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888" y="1007938"/>
            <a:ext cx="1985963" cy="234783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528888" y="1018654"/>
            <a:ext cx="1985963" cy="0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11278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528888" y="3352205"/>
            <a:ext cx="1985963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532459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650331" y="1144563"/>
            <a:ext cx="1629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269422" y="1136526"/>
            <a:ext cx="14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47" dirty="0"/>
          </a:p>
        </p:txBody>
      </p:sp>
      <p:sp>
        <p:nvSpPr>
          <p:cNvPr id="28" name="Text 22"/>
          <p:cNvSpPr/>
          <p:nvPr/>
        </p:nvSpPr>
        <p:spPr>
          <a:xfrm>
            <a:off x="2650331" y="1928143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21A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2650331" y="2087091"/>
            <a:ext cx="1743075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 PkM berintegritas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2650331" y="2289907"/>
            <a:ext cx="17430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650331" y="2357772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21B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2650331" y="2516721"/>
            <a:ext cx="1847660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budaya PkM &amp; layanan kepakaran</a:t>
            </a:r>
            <a:endParaRPr lang="en-US" sz="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007938"/>
            <a:ext cx="1985963" cy="234783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629150" y="1018654"/>
            <a:ext cx="1985963" cy="0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611541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629150" y="3352205"/>
            <a:ext cx="1985963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632722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50594" y="1144563"/>
            <a:ext cx="1629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LUARAN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369685" y="1136526"/>
            <a:ext cx="14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47" dirty="0"/>
          </a:p>
        </p:txBody>
      </p:sp>
      <p:sp>
        <p:nvSpPr>
          <p:cNvPr id="40" name="Text 33"/>
          <p:cNvSpPr/>
          <p:nvPr/>
        </p:nvSpPr>
        <p:spPr>
          <a:xfrm>
            <a:off x="4750594" y="1928143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22A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4750594" y="2087091"/>
            <a:ext cx="1743075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analisis luaran PkM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4750594" y="2289907"/>
            <a:ext cx="17430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750594" y="2357772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22B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4750594" y="2516721"/>
            <a:ext cx="1743075" cy="1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rekognisi luaran PkM</a:t>
            </a:r>
            <a:endParaRPr lang="en-US" sz="8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413" y="1007938"/>
            <a:ext cx="1985963" cy="2347838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729413" y="1018654"/>
            <a:ext cx="1985963" cy="0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711803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729413" y="3352205"/>
            <a:ext cx="1985963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732984" y="1007938"/>
            <a:ext cx="0" cy="2347838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850856" y="1144563"/>
            <a:ext cx="1629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DAMPAK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8469947" y="1136526"/>
            <a:ext cx="14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6E86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47" dirty="0"/>
          </a:p>
        </p:txBody>
      </p:sp>
      <p:sp>
        <p:nvSpPr>
          <p:cNvPr id="52" name="Text 44"/>
          <p:cNvSpPr/>
          <p:nvPr/>
        </p:nvSpPr>
        <p:spPr>
          <a:xfrm>
            <a:off x="6850856" y="1924571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6850856" y="2083519"/>
            <a:ext cx="1847660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kepakaran profesional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6850856" y="2286335"/>
            <a:ext cx="17430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850856" y="2354200"/>
            <a:ext cx="1743075" cy="131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23B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6850856" y="2513149"/>
            <a:ext cx="1847660" cy="14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karya dosen terekognisi </a:t>
            </a:r>
            <a:pPr algn="l" indent="0" marL="0">
              <a:lnSpc>
                <a:spcPts val="1063"/>
              </a:lnSpc>
              <a:buNone/>
            </a:pPr>
            <a:r>
              <a:rPr lang="en-US" sz="759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(RRD, RHKI)</a:t>
            </a:r>
            <a:endParaRPr lang="en-US" sz="759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455789"/>
            <a:ext cx="4086225" cy="417909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432197" y="3459361"/>
            <a:ext cx="4079081" cy="410766"/>
          </a:xfrm>
          <a:prstGeom prst="roundRect">
            <a:avLst>
              <a:gd name="adj" fmla="val 32464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550069" y="3541514"/>
            <a:ext cx="136024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RHKI ≥ 100%</a:t>
            </a:r>
            <a:endParaRPr lang="en-US" sz="1294" dirty="0"/>
          </a:p>
        </p:txBody>
      </p:sp>
      <p:sp>
        <p:nvSpPr>
          <p:cNvPr id="60" name="Text 51"/>
          <p:cNvSpPr/>
          <p:nvPr/>
        </p:nvSpPr>
        <p:spPr>
          <a:xfrm>
            <a:off x="1752563" y="3541514"/>
            <a:ext cx="7144" cy="246459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1874007" y="3605138"/>
            <a:ext cx="2526543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karya PkM ber-HKI/TTG/produk ÷ NDT</a:t>
            </a:r>
            <a:endParaRPr lang="en-US" sz="80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150" y="3455789"/>
            <a:ext cx="4086225" cy="417909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4632722" y="3459361"/>
            <a:ext cx="4079081" cy="410766"/>
          </a:xfrm>
          <a:prstGeom prst="roundRect">
            <a:avLst>
              <a:gd name="adj" fmla="val 32464"/>
            </a:avLst>
          </a:prstGeom>
          <a:noFill/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4750594" y="3541514"/>
            <a:ext cx="123662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RRD ≥ 100%</a:t>
            </a:r>
            <a:endParaRPr lang="en-US" sz="1294" dirty="0"/>
          </a:p>
        </p:txBody>
      </p:sp>
      <p:sp>
        <p:nvSpPr>
          <p:cNvPr id="65" name="Text 55"/>
          <p:cNvSpPr/>
          <p:nvPr/>
        </p:nvSpPr>
        <p:spPr>
          <a:xfrm>
            <a:off x="5854192" y="3541514"/>
            <a:ext cx="7144" cy="246459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5975635" y="3605138"/>
            <a:ext cx="262544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rekognisi dosen 3 tahun terakhir</a:t>
            </a:r>
            <a:endParaRPr lang="en-US" sz="800" dirty="0"/>
          </a:p>
        </p:txBody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" y="3959423"/>
            <a:ext cx="8286750" cy="308967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432197" y="3962995"/>
            <a:ext cx="8279606" cy="301823"/>
          </a:xfrm>
          <a:prstGeom prst="roundRect">
            <a:avLst>
              <a:gd name="adj" fmla="val 4418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8"/>
          <p:cNvSpPr/>
          <p:nvPr/>
        </p:nvSpPr>
        <p:spPr>
          <a:xfrm>
            <a:off x="564356" y="4060329"/>
            <a:ext cx="944737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70" name="Text 59"/>
          <p:cNvSpPr/>
          <p:nvPr/>
        </p:nvSpPr>
        <p:spPr>
          <a:xfrm>
            <a:off x="1269578" y="4052292"/>
            <a:ext cx="7144" cy="123230"/>
          </a:xfrm>
          <a:prstGeom prst="rect">
            <a:avLst/>
          </a:prstGeom>
          <a:solidFill>
            <a:srgbClr val="94B2D8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0"/>
          <p:cNvSpPr/>
          <p:nvPr/>
        </p:nvSpPr>
        <p:spPr>
          <a:xfrm>
            <a:off x="1391022" y="4052292"/>
            <a:ext cx="94889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 jalan PkM</a:t>
            </a:r>
            <a:endParaRPr lang="en-US" sz="800" dirty="0"/>
          </a:p>
        </p:txBody>
      </p:sp>
      <p:sp>
        <p:nvSpPr>
          <p:cNvPr id="72" name="Text 61"/>
          <p:cNvSpPr/>
          <p:nvPr/>
        </p:nvSpPr>
        <p:spPr>
          <a:xfrm>
            <a:off x="2368488" y="406032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73" name="Text 62"/>
          <p:cNvSpPr/>
          <p:nvPr/>
        </p:nvSpPr>
        <p:spPr>
          <a:xfrm>
            <a:off x="2900474" y="4052292"/>
            <a:ext cx="135530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skema layanan kepakaran</a:t>
            </a:r>
            <a:endParaRPr lang="en-US" sz="800" dirty="0"/>
          </a:p>
        </p:txBody>
      </p:sp>
      <p:sp>
        <p:nvSpPr>
          <p:cNvPr id="74" name="Text 63"/>
          <p:cNvSpPr/>
          <p:nvPr/>
        </p:nvSpPr>
        <p:spPr>
          <a:xfrm>
            <a:off x="4284352" y="406032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75" name="Text 64"/>
          <p:cNvSpPr/>
          <p:nvPr/>
        </p:nvSpPr>
        <p:spPr>
          <a:xfrm>
            <a:off x="4816339" y="4052292"/>
            <a:ext cx="1113309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dokumentasi luaran</a:t>
            </a:r>
            <a:endParaRPr lang="en-US" sz="800" dirty="0"/>
          </a:p>
        </p:txBody>
      </p:sp>
      <p:sp>
        <p:nvSpPr>
          <p:cNvPr id="76" name="Text 65"/>
          <p:cNvSpPr/>
          <p:nvPr/>
        </p:nvSpPr>
        <p:spPr>
          <a:xfrm>
            <a:off x="5958222" y="406032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77" name="Text 66"/>
          <p:cNvSpPr/>
          <p:nvPr/>
        </p:nvSpPr>
        <p:spPr>
          <a:xfrm>
            <a:off x="6490208" y="4052292"/>
            <a:ext cx="99465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pendaftaran HKI</a:t>
            </a:r>
            <a:endParaRPr lang="en-US" sz="800" dirty="0"/>
          </a:p>
        </p:txBody>
      </p:sp>
      <p:sp>
        <p:nvSpPr>
          <p:cNvPr id="78" name="Text 67"/>
          <p:cNvSpPr/>
          <p:nvPr/>
        </p:nvSpPr>
        <p:spPr>
          <a:xfrm>
            <a:off x="7513439" y="406032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5" dirty="0"/>
          </a:p>
        </p:txBody>
      </p:sp>
      <p:sp>
        <p:nvSpPr>
          <p:cNvPr id="79" name="Text 68"/>
          <p:cNvSpPr/>
          <p:nvPr/>
        </p:nvSpPr>
        <p:spPr>
          <a:xfrm>
            <a:off x="8045425" y="4052292"/>
            <a:ext cx="534219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rekognisi mitra</a:t>
            </a:r>
            <a:endParaRPr lang="en-US" sz="647" dirty="0"/>
          </a:p>
        </p:txBody>
      </p:sp>
      <p:sp>
        <p:nvSpPr>
          <p:cNvPr id="80" name="Text 69"/>
          <p:cNvSpPr/>
          <p:nvPr/>
        </p:nvSpPr>
        <p:spPr>
          <a:xfrm>
            <a:off x="432197" y="4357688"/>
            <a:ext cx="8279606" cy="482203"/>
          </a:xfrm>
          <a:prstGeom prst="roundRect">
            <a:avLst>
              <a:gd name="adj" fmla="val 237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0"/>
          <p:cNvSpPr/>
          <p:nvPr/>
        </p:nvSpPr>
        <p:spPr>
          <a:xfrm>
            <a:off x="564356" y="4545211"/>
            <a:ext cx="7882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82" name="Text 71"/>
          <p:cNvSpPr/>
          <p:nvPr/>
        </p:nvSpPr>
        <p:spPr>
          <a:xfrm>
            <a:off x="1171687" y="4446984"/>
            <a:ext cx="7144" cy="303609"/>
          </a:xfrm>
          <a:prstGeom prst="rect">
            <a:avLst/>
          </a:prstGeom>
          <a:solidFill>
            <a:srgbClr val="38BDF8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2"/>
          <p:cNvSpPr/>
          <p:nvPr/>
        </p:nvSpPr>
        <p:spPr>
          <a:xfrm>
            <a:off x="1293130" y="4446984"/>
            <a:ext cx="728651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Arahkan PkM ke agenda wilayah sesuai diferensiasi — sekaligus mengisi bukti butir 39; satu HKI per kelompok PkM; MoU &amp; liputan sebagai bukti rekognisi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(tabel L20 &amp; L22)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-2000250"/>
            <a:ext cx="4429125" cy="4429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0" y="-2000250"/>
            <a:ext cx="4429125" cy="44291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34640"/>
            <a:ext cx="1197471" cy="36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5"/>
              </a:lnSpc>
              <a:buNone/>
            </a:pPr>
            <a:r>
              <a:rPr lang="en-US" sz="3263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K.3</a:t>
            </a:r>
            <a:endParaRPr lang="en-US" sz="3263" dirty="0"/>
          </a:p>
        </p:txBody>
      </p:sp>
      <p:sp>
        <p:nvSpPr>
          <p:cNvPr id="5" name="Text 2"/>
          <p:cNvSpPr/>
          <p:nvPr/>
        </p:nvSpPr>
        <p:spPr>
          <a:xfrm>
            <a:off x="1305632" y="300038"/>
            <a:ext cx="75734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05632" y="442913"/>
            <a:ext cx="6620273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688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Akuntabilitas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111492" y="386767"/>
            <a:ext cx="16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butir (28% dari total) · </a:t>
            </a:r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SPU</a:t>
            </a:r>
            <a:endParaRPr lang="en-US" sz="800" dirty="0"/>
          </a:p>
          <a:p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pemilik: </a:t>
            </a:r>
            <a:pPr algn="r" indent="0" marL="0">
              <a:lnSpc>
                <a:spcPts val="1132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ppmk3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774316"/>
            <a:ext cx="8343900" cy="71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95759"/>
            <a:ext cx="5200650" cy="9961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3622" y="899331"/>
            <a:ext cx="5193506" cy="988963"/>
          </a:xfrm>
          <a:prstGeom prst="roundRect">
            <a:avLst>
              <a:gd name="adj" fmla="val 1348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35781" y="1002916"/>
            <a:ext cx="42273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MASUKAN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777383" y="1002916"/>
            <a:ext cx="687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24–27B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539353" y="1185081"/>
            <a:ext cx="1246696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35781" y="1181509"/>
            <a:ext cx="1278843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statuta &amp; dokumen tata kelola</a:t>
            </a:r>
            <a:endParaRPr lang="en-US" sz="647" dirty="0"/>
          </a:p>
        </p:txBody>
      </p:sp>
      <p:sp>
        <p:nvSpPr>
          <p:cNvPr id="15" name="Text 10"/>
          <p:cNvSpPr/>
          <p:nvPr/>
        </p:nvSpPr>
        <p:spPr>
          <a:xfrm>
            <a:off x="1843199" y="1185081"/>
            <a:ext cx="1214549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839627" y="1181509"/>
            <a:ext cx="1246696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tata pamong &amp; mitigasi risiko</a:t>
            </a:r>
            <a:endParaRPr lang="en-US" sz="647" dirty="0"/>
          </a:p>
        </p:txBody>
      </p:sp>
      <p:sp>
        <p:nvSpPr>
          <p:cNvPr id="17" name="Text 12"/>
          <p:cNvSpPr/>
          <p:nvPr/>
        </p:nvSpPr>
        <p:spPr>
          <a:xfrm>
            <a:off x="3114898" y="1185081"/>
            <a:ext cx="1277280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111326" y="1181509"/>
            <a:ext cx="1309427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pengelolaan data berbasis TIK</a:t>
            </a:r>
            <a:endParaRPr lang="en-US" sz="647" dirty="0"/>
          </a:p>
        </p:txBody>
      </p:sp>
      <p:sp>
        <p:nvSpPr>
          <p:cNvPr id="19" name="Text 14"/>
          <p:cNvSpPr/>
          <p:nvPr/>
        </p:nvSpPr>
        <p:spPr>
          <a:xfrm>
            <a:off x="4445757" y="1171182"/>
            <a:ext cx="920539" cy="192774"/>
          </a:xfrm>
          <a:prstGeom prst="roundRect">
            <a:avLst>
              <a:gd name="adj" fmla="val 4936078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445757" y="1181509"/>
            <a:ext cx="920539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Renstra &amp; keuangan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9353" y="1407207"/>
            <a:ext cx="1580108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35781" y="1403635"/>
            <a:ext cx="1587252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pendanaan mahasiswa kurang mampu</a:t>
            </a:r>
            <a:endParaRPr lang="en-US" sz="647" dirty="0"/>
          </a:p>
        </p:txBody>
      </p:sp>
      <p:sp>
        <p:nvSpPr>
          <p:cNvPr id="23" name="Text 18"/>
          <p:cNvSpPr/>
          <p:nvPr/>
        </p:nvSpPr>
        <p:spPr>
          <a:xfrm>
            <a:off x="535781" y="1654336"/>
            <a:ext cx="492918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ambang: sumber dana di luar mahasiswa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10%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penerimaan</a:t>
            </a:r>
            <a:endParaRPr lang="en-US" sz="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991878"/>
            <a:ext cx="5200650" cy="21122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03622" y="1995450"/>
            <a:ext cx="5193506" cy="2105062"/>
          </a:xfrm>
          <a:prstGeom prst="roundRect">
            <a:avLst>
              <a:gd name="adj" fmla="val 6335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35781" y="2099035"/>
            <a:ext cx="42273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777383" y="2099035"/>
            <a:ext cx="687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28A–33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539353" y="2281200"/>
            <a:ext cx="1534009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35781" y="2277628"/>
            <a:ext cx="1541152" cy="229892"/>
          </a:xfrm>
          <a:prstGeom prst="rect">
            <a:avLst/>
          </a:prstGeom>
          <a:noFill/>
          <a:ln/>
        </p:spPr>
        <p:txBody>
          <a:bodyPr wrap="squar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praktik baik GUG &amp; manajemen risiko</a:t>
            </a:r>
            <a:endParaRPr lang="en-US" sz="647" dirty="0"/>
          </a:p>
        </p:txBody>
      </p:sp>
      <p:sp>
        <p:nvSpPr>
          <p:cNvPr id="30" name="Text 24"/>
          <p:cNvSpPr/>
          <p:nvPr/>
        </p:nvSpPr>
        <p:spPr>
          <a:xfrm>
            <a:off x="2126940" y="2267301"/>
            <a:ext cx="838274" cy="192774"/>
          </a:xfrm>
          <a:prstGeom prst="roundRect">
            <a:avLst>
              <a:gd name="adj" fmla="val 4936078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2126940" y="2277628"/>
            <a:ext cx="838274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lembaga kode etik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3018792" y="2281200"/>
            <a:ext cx="1625873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015221" y="2277628"/>
            <a:ext cx="1633017" cy="229892"/>
          </a:xfrm>
          <a:prstGeom prst="rect">
            <a:avLst/>
          </a:prstGeom>
          <a:noFill/>
          <a:ln/>
        </p:spPr>
        <p:txBody>
          <a:bodyPr wrap="squar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keamanan, kenyamanan, kesejahteraan</a:t>
            </a:r>
            <a:endParaRPr lang="en-US" sz="647" dirty="0"/>
          </a:p>
        </p:txBody>
      </p:sp>
      <p:sp>
        <p:nvSpPr>
          <p:cNvPr id="34" name="Text 28"/>
          <p:cNvSpPr/>
          <p:nvPr/>
        </p:nvSpPr>
        <p:spPr>
          <a:xfrm>
            <a:off x="539353" y="2503326"/>
            <a:ext cx="1534678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535781" y="2499754"/>
            <a:ext cx="1541822" cy="229892"/>
          </a:xfrm>
          <a:prstGeom prst="rect">
            <a:avLst/>
          </a:prstGeom>
          <a:noFill/>
          <a:ln/>
        </p:spPr>
        <p:txBody>
          <a:bodyPr wrap="squar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pengelolaan fungsional &amp; operasional</a:t>
            </a:r>
            <a:endParaRPr lang="en-US" sz="647" dirty="0"/>
          </a:p>
        </p:txBody>
      </p:sp>
      <p:sp>
        <p:nvSpPr>
          <p:cNvPr id="36" name="Text 30"/>
          <p:cNvSpPr/>
          <p:nvPr/>
        </p:nvSpPr>
        <p:spPr>
          <a:xfrm>
            <a:off x="2127610" y="2489427"/>
            <a:ext cx="864282" cy="192774"/>
          </a:xfrm>
          <a:prstGeom prst="roundRect">
            <a:avLst>
              <a:gd name="adj" fmla="val 4936078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127610" y="2499754"/>
            <a:ext cx="864282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pedoman 11 aspek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3041898" y="2489427"/>
            <a:ext cx="856580" cy="192774"/>
          </a:xfrm>
          <a:prstGeom prst="roundRect">
            <a:avLst>
              <a:gd name="adj" fmla="val 4936078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3041898" y="2499754"/>
            <a:ext cx="856580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suasana akademik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3952056" y="2503326"/>
            <a:ext cx="1415467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948485" y="2499754"/>
            <a:ext cx="1516484" cy="229892"/>
          </a:xfrm>
          <a:prstGeom prst="rect">
            <a:avLst/>
          </a:prstGeom>
          <a:noFill/>
          <a:ln/>
        </p:spPr>
        <p:txBody>
          <a:bodyPr wrap="squar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admisi afirmatif &amp; perluasan akses</a:t>
            </a:r>
            <a:endParaRPr lang="en-US" sz="647" dirty="0"/>
          </a:p>
        </p:txBody>
      </p:sp>
      <p:sp>
        <p:nvSpPr>
          <p:cNvPr id="42" name="Text 36"/>
          <p:cNvSpPr/>
          <p:nvPr/>
        </p:nvSpPr>
        <p:spPr>
          <a:xfrm>
            <a:off x="539353" y="2725452"/>
            <a:ext cx="1365461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535781" y="2721880"/>
            <a:ext cx="1397608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penyiapan &amp; layanan mahasiswa</a:t>
            </a:r>
            <a:endParaRPr lang="en-US" sz="647" dirty="0"/>
          </a:p>
        </p:txBody>
      </p:sp>
      <p:sp>
        <p:nvSpPr>
          <p:cNvPr id="44" name="Text 38"/>
          <p:cNvSpPr/>
          <p:nvPr/>
        </p:nvSpPr>
        <p:spPr>
          <a:xfrm>
            <a:off x="1961964" y="2725452"/>
            <a:ext cx="1173919" cy="164976"/>
          </a:xfrm>
          <a:prstGeom prst="roundRect">
            <a:avLst>
              <a:gd name="adj" fmla="val 576779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1958392" y="2721880"/>
            <a:ext cx="1181063" cy="229892"/>
          </a:xfrm>
          <a:prstGeom prst="rect">
            <a:avLst/>
          </a:prstGeom>
          <a:noFill/>
          <a:ln/>
        </p:spPr>
        <p:txBody>
          <a:bodyPr wrap="none" lIns="78581" tIns="21431" rIns="78581" bIns="21431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pola pengelolaan keuangan</a:t>
            </a:r>
            <a:endParaRPr lang="en-US" sz="647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895759"/>
            <a:ext cx="3028950" cy="657225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718572" y="899331"/>
            <a:ext cx="3021806" cy="650081"/>
          </a:xfrm>
          <a:prstGeom prst="roundRect">
            <a:avLst>
              <a:gd name="adj" fmla="val 20513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5850731" y="1002916"/>
            <a:ext cx="2284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LUARAN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8149791" y="1002916"/>
            <a:ext cx="458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34</a:t>
            </a:r>
            <a:endParaRPr lang="en-US" sz="600" dirty="0"/>
          </a:p>
        </p:txBody>
      </p:sp>
      <p:sp>
        <p:nvSpPr>
          <p:cNvPr id="50" name="Text 43"/>
          <p:cNvSpPr/>
          <p:nvPr/>
        </p:nvSpPr>
        <p:spPr>
          <a:xfrm>
            <a:off x="5850731" y="1174366"/>
            <a:ext cx="130748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80%</a:t>
            </a:r>
            <a:endParaRPr lang="en-US" sz="2138" dirty="0"/>
          </a:p>
        </p:txBody>
      </p:sp>
      <p:sp>
        <p:nvSpPr>
          <p:cNvPr id="51" name="Text 44"/>
          <p:cNvSpPr/>
          <p:nvPr/>
        </p:nvSpPr>
        <p:spPr>
          <a:xfrm>
            <a:off x="6767922" y="1182849"/>
            <a:ext cx="1840297" cy="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kepuasan pemangku kepentingan 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 80%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instrumen valid, berkala, hasil ditindaklanjuti</a:t>
            </a:r>
            <a:endParaRPr lang="en-US" sz="8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638709"/>
            <a:ext cx="3028950" cy="52551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718572" y="1642281"/>
            <a:ext cx="3021806" cy="518368"/>
          </a:xfrm>
          <a:prstGeom prst="roundRect">
            <a:avLst>
              <a:gd name="adj" fmla="val 25725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5850731" y="1745866"/>
            <a:ext cx="2284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DAMPAK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8149791" y="1745866"/>
            <a:ext cx="458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BUTIR 35</a:t>
            </a:r>
            <a:endParaRPr lang="en-US" sz="600" dirty="0"/>
          </a:p>
        </p:txBody>
      </p:sp>
      <p:sp>
        <p:nvSpPr>
          <p:cNvPr id="56" name="Text 48"/>
          <p:cNvSpPr/>
          <p:nvPr/>
        </p:nvSpPr>
        <p:spPr>
          <a:xfrm>
            <a:off x="5850731" y="1911181"/>
            <a:ext cx="329394" cy="152019"/>
          </a:xfrm>
          <a:prstGeom prst="roundRect">
            <a:avLst>
              <a:gd name="adj" fmla="val 3759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5822012" y="1919325"/>
            <a:ext cx="3868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SPU-6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6265850" y="1917316"/>
            <a:ext cx="234236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eksternal keuangan — KAP, opini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WTP</a:t>
            </a:r>
            <a:endParaRPr lang="en-US" sz="8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249946"/>
            <a:ext cx="3028950" cy="185413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718572" y="2253518"/>
            <a:ext cx="3021806" cy="1846994"/>
          </a:xfrm>
          <a:prstGeom prst="roundRect">
            <a:avLst>
              <a:gd name="adj" fmla="val 7220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5850731" y="2414253"/>
            <a:ext cx="803007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5850731" y="2592846"/>
            <a:ext cx="2757488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Dokumen tata kelola 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pelaksanaan tercatat 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audit internal 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survei kepuasan 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audit KAP eksternal.</a:t>
            </a:r>
            <a:endParaRPr lang="en-US" sz="8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4204097"/>
            <a:ext cx="8343900" cy="682228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400050" y="4207669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8740378" y="4204097"/>
            <a:ext cx="0" cy="682228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400050" y="4882753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410766" y="4204097"/>
            <a:ext cx="0" cy="682228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68" name="Text 58"/>
          <p:cNvSpPr/>
          <p:nvPr/>
        </p:nvSpPr>
        <p:spPr>
          <a:xfrm>
            <a:off x="550069" y="43112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69" name="Text 59"/>
          <p:cNvSpPr/>
          <p:nvPr/>
        </p:nvSpPr>
        <p:spPr>
          <a:xfrm>
            <a:off x="792956" y="4361259"/>
            <a:ext cx="66806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70" name="Text 60"/>
          <p:cNvSpPr/>
          <p:nvPr/>
        </p:nvSpPr>
        <p:spPr>
          <a:xfrm>
            <a:off x="792956" y="4496991"/>
            <a:ext cx="78152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Proyek Q1 =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kontrak KAP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(prosesnya panjang); survei kepuasan L23 butuh instrumen &amp; sampel rapi;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register risiko + pembaruan laman PT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adalah bukti termurah — jangan dicicil di akhir.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28750" y="30003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428750" y="300037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34640"/>
            <a:ext cx="1197471" cy="36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5"/>
              </a:lnSpc>
              <a:buNone/>
            </a:pPr>
            <a:r>
              <a:rPr lang="en-US" sz="3263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K.4</a:t>
            </a:r>
            <a:endParaRPr lang="en-US" sz="3263" dirty="0"/>
          </a:p>
        </p:txBody>
      </p:sp>
      <p:sp>
        <p:nvSpPr>
          <p:cNvPr id="5" name="Text 2"/>
          <p:cNvSpPr/>
          <p:nvPr/>
        </p:nvSpPr>
        <p:spPr>
          <a:xfrm>
            <a:off x="1305632" y="300038"/>
            <a:ext cx="763978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BEDAH KRITERIA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05632" y="442913"/>
            <a:ext cx="5983052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688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Diferensiasi Misi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7034299" y="419695"/>
            <a:ext cx="1709651" cy="10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35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r" indent="0" marL="0">
              <a:lnSpc>
                <a:spcPts val="1035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butir · </a:t>
            </a:r>
            <a:pPr algn="r" indent="0" marL="0">
              <a:lnSpc>
                <a:spcPts val="1035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r" indent="0" marL="0">
              <a:lnSpc>
                <a:spcPts val="1035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SPU · pemilik: </a:t>
            </a:r>
            <a:pPr algn="r" indent="0" marL="0">
              <a:lnSpc>
                <a:spcPts val="1035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ppmk4</a:t>
            </a:r>
            <a:endParaRPr lang="en-US" sz="647" dirty="0"/>
          </a:p>
        </p:txBody>
      </p:sp>
      <p:sp>
        <p:nvSpPr>
          <p:cNvPr id="8" name="Text 5"/>
          <p:cNvSpPr/>
          <p:nvPr/>
        </p:nvSpPr>
        <p:spPr>
          <a:xfrm>
            <a:off x="7034299" y="551073"/>
            <a:ext cx="17096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i="1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kriteria penentu karakter Unggul</a:t>
            </a:r>
            <a:endParaRPr lang="en-US" sz="647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774316"/>
            <a:ext cx="8343900" cy="7144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95759"/>
            <a:ext cx="5372100" cy="8085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3622" y="899331"/>
            <a:ext cx="5364956" cy="801439"/>
          </a:xfrm>
          <a:prstGeom prst="roundRect">
            <a:avLst>
              <a:gd name="adj" fmla="val 16639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64356" y="1068549"/>
            <a:ext cx="1486436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3</a:t>
            </a:r>
            <a:endParaRPr lang="en-US" sz="4050" dirty="0"/>
          </a:p>
        </p:txBody>
      </p:sp>
      <p:sp>
        <p:nvSpPr>
          <p:cNvPr id="13" name="Shape 8"/>
          <p:cNvSpPr/>
          <p:nvPr/>
        </p:nvSpPr>
        <p:spPr>
          <a:xfrm>
            <a:off x="1654113" y="1031491"/>
            <a:ext cx="0" cy="537121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800560" y="1088641"/>
            <a:ext cx="1785699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AMBANG UNGGUL · BUTIR 36A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800560" y="1260091"/>
            <a:ext cx="380728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aspek diferensiasi harus terpenuhi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terukur pada data 3 tahun terakhir, dengan pengakuan eksternal yang sahih per aspek.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804355"/>
            <a:ext cx="5372100" cy="22997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3622" y="1807927"/>
            <a:ext cx="5364956" cy="2292586"/>
          </a:xfrm>
          <a:prstGeom prst="roundRect">
            <a:avLst>
              <a:gd name="adj" fmla="val 5817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50069" y="1982949"/>
            <a:ext cx="803007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MEKANISME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553641" y="2193689"/>
            <a:ext cx="1292684" cy="216098"/>
          </a:xfrm>
          <a:prstGeom prst="roundRect">
            <a:avLst>
              <a:gd name="adj" fmla="val 39670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50069" y="2190117"/>
            <a:ext cx="1328403" cy="29817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Rumusan misi khas di Renstra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907046" y="2237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16"/>
          <p:cNvSpPr/>
          <p:nvPr/>
        </p:nvSpPr>
        <p:spPr>
          <a:xfrm>
            <a:off x="2096356" y="2193689"/>
            <a:ext cx="1315678" cy="216098"/>
          </a:xfrm>
          <a:prstGeom prst="roundRect">
            <a:avLst>
              <a:gd name="adj" fmla="val 39670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2092784" y="2190117"/>
            <a:ext cx="1351397" cy="29817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 pembuktian per aspek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3472755" y="2237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5" name="Text 19"/>
          <p:cNvSpPr/>
          <p:nvPr/>
        </p:nvSpPr>
        <p:spPr>
          <a:xfrm>
            <a:off x="3662065" y="2193689"/>
            <a:ext cx="1293130" cy="216098"/>
          </a:xfrm>
          <a:prstGeom prst="roundRect">
            <a:avLst>
              <a:gd name="adj" fmla="val 39670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3658493" y="2190117"/>
            <a:ext cx="1328849" cy="29817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evaluasi ketercapaian tahunan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015917" y="2237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2"/>
          <p:cNvSpPr/>
          <p:nvPr/>
        </p:nvSpPr>
        <p:spPr>
          <a:xfrm>
            <a:off x="553641" y="2474082"/>
            <a:ext cx="1388678" cy="216098"/>
          </a:xfrm>
          <a:prstGeom prst="roundRect">
            <a:avLst>
              <a:gd name="adj" fmla="val 39670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50069" y="2470510"/>
            <a:ext cx="1395822" cy="298174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DUDIK &amp; masyarakat</a:t>
            </a:r>
            <a:endParaRPr lang="en-US" sz="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895759"/>
            <a:ext cx="2857500" cy="32083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90022" y="899331"/>
            <a:ext cx="2850356" cy="3201181"/>
          </a:xfrm>
          <a:prstGeom prst="roundRect">
            <a:avLst>
              <a:gd name="adj" fmla="val 4678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022181" y="1017203"/>
            <a:ext cx="18267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 BUTIR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7863260" y="1017203"/>
            <a:ext cx="7449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K.4 · 5 BUTIR</a:t>
            </a:r>
            <a:endParaRPr lang="en-US" sz="600" dirty="0"/>
          </a:p>
        </p:txBody>
      </p:sp>
      <p:sp>
        <p:nvSpPr>
          <p:cNvPr id="34" name="Text 27"/>
          <p:cNvSpPr/>
          <p:nvPr/>
        </p:nvSpPr>
        <p:spPr>
          <a:xfrm>
            <a:off x="6022181" y="1210084"/>
            <a:ext cx="258603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MASUKAN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6022181" y="1363568"/>
            <a:ext cx="300038" cy="202025"/>
          </a:xfrm>
          <a:prstGeom prst="roundRect">
            <a:avLst>
              <a:gd name="adj" fmla="val 3300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6022181" y="1374391"/>
            <a:ext cx="3000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36A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7106469" y="1388678"/>
            <a:ext cx="329394" cy="132159"/>
          </a:xfrm>
          <a:prstGeom prst="roundRect">
            <a:avLst>
              <a:gd name="adj" fmla="val 4324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393656" y="1374391"/>
            <a:ext cx="2214563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diferensiasi misi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06263E"/>
                </a:solidFill>
                <a:highlight>
                  <a:srgbClr val="38BDF8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SPU-7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022181" y="1593954"/>
            <a:ext cx="300038" cy="202025"/>
          </a:xfrm>
          <a:prstGeom prst="roundRect">
            <a:avLst>
              <a:gd name="adj" fmla="val 3300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022181" y="1604776"/>
            <a:ext cx="3000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36B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6393656" y="1604776"/>
            <a:ext cx="2214563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Renstra &amp; peta pengembangan institusi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022181" y="1874453"/>
            <a:ext cx="2586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022181" y="1956606"/>
            <a:ext cx="258603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6022181" y="2110090"/>
            <a:ext cx="300038" cy="202025"/>
          </a:xfrm>
          <a:prstGeom prst="roundRect">
            <a:avLst>
              <a:gd name="adj" fmla="val 3300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6022181" y="2120912"/>
            <a:ext cx="3000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393656" y="2120912"/>
            <a:ext cx="2214563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pelaksanaan tridharma sesuai renstra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6022181" y="2390589"/>
            <a:ext cx="2586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022181" y="2472742"/>
            <a:ext cx="258603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LUARAN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6022181" y="2626226"/>
            <a:ext cx="300038" cy="202025"/>
          </a:xfrm>
          <a:prstGeom prst="roundRect">
            <a:avLst>
              <a:gd name="adj" fmla="val 3300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6022181" y="2637048"/>
            <a:ext cx="3000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6393656" y="2637048"/>
            <a:ext cx="2214563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evaluasi capaian diferensiasi misi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6022181" y="2906725"/>
            <a:ext cx="2586038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6022181" y="2988878"/>
            <a:ext cx="258603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DAMPAK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6022181" y="3142361"/>
            <a:ext cx="300038" cy="202025"/>
          </a:xfrm>
          <a:prstGeom prst="roundRect">
            <a:avLst>
              <a:gd name="adj" fmla="val 33003"/>
            </a:avLst>
          </a:prstGeom>
          <a:solidFill>
            <a:srgbClr val="11294A">
              <a:alpha val="55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6022181" y="3153184"/>
            <a:ext cx="30003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7857455" y="3167472"/>
            <a:ext cx="329394" cy="132159"/>
          </a:xfrm>
          <a:prstGeom prst="roundRect">
            <a:avLst>
              <a:gd name="adj" fmla="val 43243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6393656" y="3153184"/>
            <a:ext cx="2214563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keunggulan tridharma </a:t>
            </a:r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06263E"/>
                </a:solidFill>
                <a:highlight>
                  <a:srgbClr val="38BDF8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SPU-8</a:t>
            </a:r>
            <a:endParaRPr lang="en-US" sz="80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4204097"/>
            <a:ext cx="8343900" cy="682228"/>
          </a:xfrm>
          <a:prstGeom prst="rect">
            <a:avLst/>
          </a:prstGeom>
        </p:spPr>
      </p:pic>
      <p:sp>
        <p:nvSpPr>
          <p:cNvPr id="59" name="Shape 51"/>
          <p:cNvSpPr/>
          <p:nvPr/>
        </p:nvSpPr>
        <p:spPr>
          <a:xfrm>
            <a:off x="400050" y="4207669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8740378" y="4204097"/>
            <a:ext cx="0" cy="682228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00050" y="4882753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10766" y="4204097"/>
            <a:ext cx="0" cy="682228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550069" y="43112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64" name="Text 56"/>
          <p:cNvSpPr/>
          <p:nvPr/>
        </p:nvSpPr>
        <p:spPr>
          <a:xfrm>
            <a:off x="792956" y="4361259"/>
            <a:ext cx="66806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92956" y="4496991"/>
            <a:ext cx="78152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Narasi seluruh LED diarahkan menopang diferensiasi —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misi jadi benang merah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pilih aspek yang benar-benar bisa dibuktikan data UNITA;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inventarisasi pengakuan dimulai sekarang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butir ini tidak bisa dipoles di akhir.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28750" y="-18573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428750" y="-185737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00038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PAPAN BUKTI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00050" y="450056"/>
            <a:ext cx="8636000" cy="27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LKPT &amp; 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Naskah Menopang 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Butir</a:t>
            </a:r>
            <a:endParaRPr lang="en-US" sz="174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815057"/>
            <a:ext cx="6043613" cy="34908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3622" y="818629"/>
            <a:ext cx="6036469" cy="3483694"/>
          </a:xfrm>
          <a:prstGeom prst="roundRect">
            <a:avLst>
              <a:gd name="adj" fmla="val 3828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50069" y="1526418"/>
            <a:ext cx="1693069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</a:t>
            </a:r>
            <a:endParaRPr lang="en-US" sz="956" dirty="0"/>
          </a:p>
        </p:txBody>
      </p:sp>
      <p:sp>
        <p:nvSpPr>
          <p:cNvPr id="9" name="Text 5"/>
          <p:cNvSpPr/>
          <p:nvPr/>
        </p:nvSpPr>
        <p:spPr>
          <a:xfrm>
            <a:off x="550069" y="1722872"/>
            <a:ext cx="12558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Budaya Mutu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735931" y="1622636"/>
            <a:ext cx="4557713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L01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Tabel 1 akreditasi prodi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50069" y="1928254"/>
            <a:ext cx="57435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0069" y="2010408"/>
            <a:ext cx="1693069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K.2.1</a:t>
            </a:r>
            <a:endParaRPr lang="en-US" sz="956" dirty="0"/>
          </a:p>
        </p:txBody>
      </p:sp>
      <p:sp>
        <p:nvSpPr>
          <p:cNvPr id="13" name="Text 9"/>
          <p:cNvSpPr/>
          <p:nvPr/>
        </p:nvSpPr>
        <p:spPr>
          <a:xfrm>
            <a:off x="550069" y="2206861"/>
            <a:ext cx="12558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Pendidikan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735931" y="2010408"/>
            <a:ext cx="1291822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L02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rasio dosen-mahasiswa</a:t>
            </a:r>
            <a:endParaRPr lang="en-US" sz="647" dirty="0"/>
          </a:p>
        </p:txBody>
      </p:sp>
      <p:sp>
        <p:nvSpPr>
          <p:cNvPr id="15" name="Text 11"/>
          <p:cNvSpPr/>
          <p:nvPr/>
        </p:nvSpPr>
        <p:spPr>
          <a:xfrm>
            <a:off x="2932063" y="2010408"/>
            <a:ext cx="1145198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L03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kecukupan dosen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909194" y="2010408"/>
            <a:ext cx="1123743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L04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dosen tidak tetap</a:t>
            </a:r>
            <a:endParaRPr lang="en-US" sz="647" dirty="0"/>
          </a:p>
        </p:txBody>
      </p:sp>
      <p:sp>
        <p:nvSpPr>
          <p:cNvPr id="17" name="Text 13"/>
          <p:cNvSpPr/>
          <p:nvPr/>
        </p:nvSpPr>
        <p:spPr>
          <a:xfrm>
            <a:off x="4868019" y="2010408"/>
            <a:ext cx="1425625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L05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beban belajar luar prodi</a:t>
            </a:r>
            <a:endParaRPr lang="en-US" sz="647" dirty="0"/>
          </a:p>
        </p:txBody>
      </p:sp>
      <p:sp>
        <p:nvSpPr>
          <p:cNvPr id="18" name="Text 14"/>
          <p:cNvSpPr/>
          <p:nvPr/>
        </p:nvSpPr>
        <p:spPr>
          <a:xfrm>
            <a:off x="1734694" y="2173374"/>
            <a:ext cx="853196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L06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guru besar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461803" y="2173374"/>
            <a:ext cx="1145198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L07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jabatan akademik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438934" y="2173374"/>
            <a:ext cx="1673245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L08–L12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 &amp; kelulusan tepat masa</a:t>
            </a:r>
            <a:endParaRPr lang="en-US" sz="647" dirty="0"/>
          </a:p>
        </p:txBody>
      </p:sp>
      <p:sp>
        <p:nvSpPr>
          <p:cNvPr id="21" name="Text 17"/>
          <p:cNvSpPr/>
          <p:nvPr/>
        </p:nvSpPr>
        <p:spPr>
          <a:xfrm>
            <a:off x="4988235" y="2173374"/>
            <a:ext cx="1305409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L13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pengakuan kompetensi</a:t>
            </a:r>
            <a:endParaRPr lang="en-US" sz="647" dirty="0"/>
          </a:p>
        </p:txBody>
      </p:sp>
      <p:sp>
        <p:nvSpPr>
          <p:cNvPr id="22" name="Text 18"/>
          <p:cNvSpPr/>
          <p:nvPr/>
        </p:nvSpPr>
        <p:spPr>
          <a:xfrm>
            <a:off x="1735931" y="2336341"/>
            <a:ext cx="1263197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L14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kepuasan pengguna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813745" y="2336341"/>
            <a:ext cx="120524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L15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 mahasiswa baru</a:t>
            </a:r>
            <a:endParaRPr lang="en-US" sz="647" dirty="0"/>
          </a:p>
        </p:txBody>
      </p:sp>
      <p:sp>
        <p:nvSpPr>
          <p:cNvPr id="24" name="Text 20"/>
          <p:cNvSpPr/>
          <p:nvPr/>
        </p:nvSpPr>
        <p:spPr>
          <a:xfrm>
            <a:off x="3894585" y="2336341"/>
            <a:ext cx="757286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L16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prestasi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530254" y="2336341"/>
            <a:ext cx="963227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L17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waktu tunggu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735931" y="2499308"/>
            <a:ext cx="1155794" cy="127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L18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daya saing lulusan</a:t>
            </a:r>
            <a:endParaRPr lang="en-US" sz="647" dirty="0"/>
          </a:p>
        </p:txBody>
      </p:sp>
      <p:sp>
        <p:nvSpPr>
          <p:cNvPr id="27" name="Shape 23"/>
          <p:cNvSpPr/>
          <p:nvPr/>
        </p:nvSpPr>
        <p:spPr>
          <a:xfrm>
            <a:off x="550069" y="2708709"/>
            <a:ext cx="57435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0069" y="2790862"/>
            <a:ext cx="1255871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K.2.2 · K.2.3</a:t>
            </a:r>
            <a:endParaRPr lang="en-US" sz="956" dirty="0"/>
          </a:p>
        </p:txBody>
      </p:sp>
      <p:sp>
        <p:nvSpPr>
          <p:cNvPr id="29" name="Text 25"/>
          <p:cNvSpPr/>
          <p:nvPr/>
        </p:nvSpPr>
        <p:spPr>
          <a:xfrm>
            <a:off x="550069" y="2987315"/>
            <a:ext cx="125587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Penelitian &amp; PkM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735931" y="2887080"/>
            <a:ext cx="1097056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L19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luaran penelitian</a:t>
            </a:r>
            <a:endParaRPr lang="en-US" sz="647" dirty="0"/>
          </a:p>
        </p:txBody>
      </p:sp>
      <p:sp>
        <p:nvSpPr>
          <p:cNvPr id="31" name="Text 27"/>
          <p:cNvSpPr/>
          <p:nvPr/>
        </p:nvSpPr>
        <p:spPr>
          <a:xfrm>
            <a:off x="2650053" y="2887080"/>
            <a:ext cx="819628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L20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rekognisi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333899" y="2887080"/>
            <a:ext cx="1064874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L21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karya penelitian</a:t>
            </a:r>
            <a:endParaRPr lang="en-US" sz="647" dirty="0"/>
          </a:p>
        </p:txBody>
      </p:sp>
      <p:sp>
        <p:nvSpPr>
          <p:cNvPr id="33" name="Text 29"/>
          <p:cNvSpPr/>
          <p:nvPr/>
        </p:nvSpPr>
        <p:spPr>
          <a:xfrm>
            <a:off x="4242495" y="2887080"/>
            <a:ext cx="2051149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L22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karya PkM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50069" y="3192698"/>
            <a:ext cx="574357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50069" y="3274851"/>
            <a:ext cx="1693069" cy="169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K.3</a:t>
            </a:r>
            <a:endParaRPr lang="en-US" sz="956" dirty="0"/>
          </a:p>
        </p:txBody>
      </p:sp>
      <p:sp>
        <p:nvSpPr>
          <p:cNvPr id="36" name="Text 32"/>
          <p:cNvSpPr/>
          <p:nvPr/>
        </p:nvSpPr>
        <p:spPr>
          <a:xfrm>
            <a:off x="550069" y="3471304"/>
            <a:ext cx="125587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Akuntabilitas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1735931" y="3371069"/>
            <a:ext cx="125067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L23</a:t>
            </a:r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kepuasan stakeholder</a:t>
            </a:r>
            <a:endParaRPr lang="en-US" sz="647" dirty="0"/>
          </a:p>
        </p:txBody>
      </p:sp>
      <p:sp>
        <p:nvSpPr>
          <p:cNvPr id="38" name="Text 34"/>
          <p:cNvSpPr/>
          <p:nvPr/>
        </p:nvSpPr>
        <p:spPr>
          <a:xfrm>
            <a:off x="2872904" y="3371069"/>
            <a:ext cx="3420740" cy="16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L24</a:t>
            </a:r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eksternal</a:t>
            </a:r>
            <a:endParaRPr lang="en-US" sz="8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3" y="815057"/>
            <a:ext cx="2185988" cy="349083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61534" y="818629"/>
            <a:ext cx="2178844" cy="3483694"/>
          </a:xfrm>
          <a:prstGeom prst="roundRect">
            <a:avLst>
              <a:gd name="adj" fmla="val 6120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693694" y="922213"/>
            <a:ext cx="14990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NASKAH LED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206826" y="922213"/>
            <a:ext cx="4016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N01–N14</a:t>
            </a:r>
            <a:endParaRPr lang="en-US" sz="600" dirty="0"/>
          </a:p>
        </p:txBody>
      </p:sp>
      <p:sp>
        <p:nvSpPr>
          <p:cNvPr id="43" name="Shape 38"/>
          <p:cNvSpPr/>
          <p:nvPr/>
        </p:nvSpPr>
        <p:spPr>
          <a:xfrm>
            <a:off x="6693694" y="1327621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693694" y="1143670"/>
            <a:ext cx="6629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N01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7179469" y="1143670"/>
            <a:ext cx="142875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halaman muka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6693694" y="1572295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693694" y="1388343"/>
            <a:ext cx="6629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N02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7179469" y="1388343"/>
            <a:ext cx="142875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kata pengantar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6693694" y="1816968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693694" y="1633017"/>
            <a:ext cx="6629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N03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7179469" y="1633017"/>
            <a:ext cx="142875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ringkasan eksekutif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6693694" y="2061642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693694" y="1877690"/>
            <a:ext cx="59250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N04–N06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7179469" y="1877690"/>
            <a:ext cx="142875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 I (dasar, tim, mekanisme)</a:t>
            </a:r>
            <a:endParaRPr lang="en-US" sz="647" dirty="0"/>
          </a:p>
        </p:txBody>
      </p:sp>
      <p:sp>
        <p:nvSpPr>
          <p:cNvPr id="55" name="Shape 50"/>
          <p:cNvSpPr/>
          <p:nvPr/>
        </p:nvSpPr>
        <p:spPr>
          <a:xfrm>
            <a:off x="6693694" y="2306315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693694" y="2122363"/>
            <a:ext cx="59250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N07–N12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7179469" y="2122363"/>
            <a:ext cx="142875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narasi per kriteria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6693694" y="2550988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6693694" y="2367037"/>
            <a:ext cx="6629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N13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7179469" y="2367037"/>
            <a:ext cx="142875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penutup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6693694" y="2611710"/>
            <a:ext cx="6629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N14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7179469" y="2611710"/>
            <a:ext cx="1428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lampiran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6693694" y="4023717"/>
            <a:ext cx="1914525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693694" y="4020145"/>
            <a:ext cx="2024253" cy="178594"/>
          </a:xfrm>
          <a:prstGeom prst="rect">
            <a:avLst/>
          </a:prstGeom>
          <a:noFill/>
          <a:ln/>
        </p:spPr>
        <p:txBody>
          <a:bodyPr wrap="square" lIns="0" tIns="64294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LKPT = ANGKA · NASKAH = NARASI</a:t>
            </a:r>
            <a:endParaRPr lang="en-US" sz="800" dirty="0"/>
          </a:p>
        </p:txBody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4398764"/>
            <a:ext cx="8343900" cy="314325"/>
          </a:xfrm>
          <a:prstGeom prst="rect">
            <a:avLst/>
          </a:prstGeom>
        </p:spPr>
      </p:pic>
      <p:sp>
        <p:nvSpPr>
          <p:cNvPr id="66" name="Shape 60"/>
          <p:cNvSpPr/>
          <p:nvPr/>
        </p:nvSpPr>
        <p:spPr>
          <a:xfrm>
            <a:off x="400050" y="4402336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740378" y="4398764"/>
            <a:ext cx="0" cy="314325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400050" y="4709517"/>
            <a:ext cx="8343900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410766" y="4398764"/>
            <a:ext cx="0" cy="314325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535781" y="44844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71" name="Text 65"/>
          <p:cNvSpPr/>
          <p:nvPr/>
        </p:nvSpPr>
        <p:spPr>
          <a:xfrm>
            <a:off x="764381" y="4494312"/>
            <a:ext cx="7858125" cy="133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Sumber tunggal data = PD Dikti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(Psl 78 &amp; 96: perpanjangan status dan pemantauan berbasis PD Dikti). LED yang tidak sinkron dengan PD Dikti = </a:t>
            </a:r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temuan asesor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647" dirty="0"/>
          </a:p>
        </p:txBody>
      </p:sp>
      <p:sp>
        <p:nvSpPr>
          <p:cNvPr id="72" name="Text 66"/>
          <p:cNvSpPr/>
          <p:nvPr/>
        </p:nvSpPr>
        <p:spPr>
          <a:xfrm>
            <a:off x="428625" y="478542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9CB1C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73" name="Text 67"/>
          <p:cNvSpPr/>
          <p:nvPr/>
        </p:nvSpPr>
        <p:spPr>
          <a:xfrm>
            <a:off x="600075" y="477738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kurator per tabel; butir yang datanya belum ada (tracer, kepuasan, audit) masuk jadwal November sesuai kalender aplikasi.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-185737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0" y="-185737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00038"/>
            <a:ext cx="86360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EKSEKUSI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00050" y="450056"/>
            <a:ext cx="8636000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Mesin Kerja Task Force: 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38BD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Siklus Mingguan</a:t>
            </a:r>
            <a:endParaRPr lang="en-US" sz="1744" dirty="0"/>
          </a:p>
        </p:txBody>
      </p:sp>
      <p:sp>
        <p:nvSpPr>
          <p:cNvPr id="6" name="Text 3"/>
          <p:cNvSpPr/>
          <p:nvPr/>
        </p:nvSpPr>
        <p:spPr>
          <a:xfrm>
            <a:off x="400050" y="822201"/>
            <a:ext cx="527359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SIKLUS KERJA — 5 LANGKAH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10791" y="1172245"/>
            <a:ext cx="0" cy="3528343"/>
          </a:xfrm>
          <a:prstGeom prst="line">
            <a:avLst/>
          </a:prstGeom>
          <a:noFill/>
          <a:ln w="7144">
            <a:solidFill>
              <a:srgbClr val="94B2D8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000795"/>
            <a:ext cx="4250754" cy="722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3622" y="1004367"/>
            <a:ext cx="4243611" cy="715714"/>
          </a:xfrm>
          <a:prstGeom prst="roundRect">
            <a:avLst>
              <a:gd name="adj" fmla="val 186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25066" y="1244352"/>
            <a:ext cx="235744" cy="235744"/>
          </a:xfrm>
          <a:prstGeom prst="roundRect">
            <a:avLst>
              <a:gd name="adj" fmla="val 404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21494" y="1240780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2" name="Text 8"/>
          <p:cNvSpPr/>
          <p:nvPr/>
        </p:nvSpPr>
        <p:spPr>
          <a:xfrm>
            <a:off x="864394" y="1222474"/>
            <a:ext cx="3664967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Isi kerangka per butir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templat kerangka &amp; pertanyaan kunci sudah tersedia di aplikasi APTUNITA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787947"/>
            <a:ext cx="4250754" cy="722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3622" y="1791519"/>
            <a:ext cx="4243611" cy="715714"/>
          </a:xfrm>
          <a:prstGeom prst="roundRect">
            <a:avLst>
              <a:gd name="adj" fmla="val 186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25066" y="2031504"/>
            <a:ext cx="235744" cy="235744"/>
          </a:xfrm>
          <a:prstGeom prst="roundRect">
            <a:avLst>
              <a:gd name="adj" fmla="val 404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21494" y="2027932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17" name="Text 12"/>
          <p:cNvSpPr/>
          <p:nvPr/>
        </p:nvSpPr>
        <p:spPr>
          <a:xfrm>
            <a:off x="864394" y="2079501"/>
            <a:ext cx="3672111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Lampirkan link bukti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pada setiap butir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575099"/>
            <a:ext cx="4250754" cy="7228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3622" y="2578671"/>
            <a:ext cx="4243611" cy="715714"/>
          </a:xfrm>
          <a:prstGeom prst="roundRect">
            <a:avLst>
              <a:gd name="adj" fmla="val 186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25066" y="2818656"/>
            <a:ext cx="235744" cy="235744"/>
          </a:xfrm>
          <a:prstGeom prst="roundRect">
            <a:avLst>
              <a:gd name="adj" fmla="val 404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21494" y="2815084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2" name="Text 16"/>
          <p:cNvSpPr/>
          <p:nvPr/>
        </p:nvSpPr>
        <p:spPr>
          <a:xfrm>
            <a:off x="864394" y="2866653"/>
            <a:ext cx="3672111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Finalisasi status: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Belum mulai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Proses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Final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362251"/>
            <a:ext cx="4250754" cy="72285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3622" y="3365822"/>
            <a:ext cx="4243611" cy="715714"/>
          </a:xfrm>
          <a:prstGeom prst="roundRect">
            <a:avLst>
              <a:gd name="adj" fmla="val 186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25066" y="3605808"/>
            <a:ext cx="235744" cy="235744"/>
          </a:xfrm>
          <a:prstGeom prst="roundRect">
            <a:avLst>
              <a:gd name="adj" fmla="val 404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21494" y="3602236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27" name="Text 20"/>
          <p:cNvSpPr/>
          <p:nvPr/>
        </p:nvSpPr>
        <p:spPr>
          <a:xfrm>
            <a:off x="864394" y="3653805"/>
            <a:ext cx="3672111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Verifikasi silang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lintas kriteria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4149403"/>
            <a:ext cx="4250754" cy="72285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3622" y="4152974"/>
            <a:ext cx="4243611" cy="715714"/>
          </a:xfrm>
          <a:prstGeom prst="roundRect">
            <a:avLst>
              <a:gd name="adj" fmla="val 18632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25066" y="4392960"/>
            <a:ext cx="235744" cy="235744"/>
          </a:xfrm>
          <a:prstGeom prst="roundRect">
            <a:avLst>
              <a:gd name="adj" fmla="val 40404"/>
            </a:avLst>
          </a:prstGeom>
          <a:solidFill>
            <a:srgbClr val="38BDF8">
              <a:alpha val="13000"/>
            </a:srgbClr>
          </a:solidFill>
          <a:ln w="7144">
            <a:solidFill>
              <a:srgbClr val="38BDF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521494" y="4389388"/>
            <a:ext cx="29289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44" dirty="0"/>
          </a:p>
        </p:txBody>
      </p:sp>
      <p:sp>
        <p:nvSpPr>
          <p:cNvPr id="32" name="Text 24"/>
          <p:cNvSpPr/>
          <p:nvPr/>
        </p:nvSpPr>
        <p:spPr>
          <a:xfrm>
            <a:off x="864394" y="4440957"/>
            <a:ext cx="3672111" cy="159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&amp; laporkan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 rapat mingguan task force</a:t>
            </a:r>
            <a:endParaRPr lang="en-US" sz="8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967" y="822201"/>
            <a:ext cx="3935983" cy="329527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811539" y="825773"/>
            <a:ext cx="3928839" cy="3288134"/>
          </a:xfrm>
          <a:prstGeom prst="roundRect">
            <a:avLst>
              <a:gd name="adj" fmla="val 4055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4943698" y="943645"/>
            <a:ext cx="35145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PEMILIK AKUN DI APLIKASI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472488" y="92935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336" dirty="0"/>
          </a:p>
        </p:txBody>
      </p:sp>
      <p:sp>
        <p:nvSpPr>
          <p:cNvPr id="37" name="Shape 28"/>
          <p:cNvSpPr/>
          <p:nvPr/>
        </p:nvSpPr>
        <p:spPr>
          <a:xfrm>
            <a:off x="4943698" y="1363340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943698" y="1179388"/>
            <a:ext cx="89897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ppmunita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5658073" y="1179388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Pusat Penjaminan Mutu (kurasi &amp; audit)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4943698" y="1608013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4943698" y="1424062"/>
            <a:ext cx="10058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ppmk1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5658073" y="1424062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 Budaya Mutu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4943698" y="1852687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943698" y="1668735"/>
            <a:ext cx="89897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ppmk21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5658073" y="1668735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K.2.1 Relevansi Pendidikan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4943698" y="2097360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943698" y="1913409"/>
            <a:ext cx="89897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ppmk22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5658073" y="1913409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K.2.2 Relevansi Penelitian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4943698" y="2342034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943698" y="2158082"/>
            <a:ext cx="89897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ppmk23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5658073" y="2158082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K.2.3 Relevansi PkM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4943698" y="2586707"/>
            <a:ext cx="3664521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4943698" y="2402756"/>
            <a:ext cx="1005840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ppmk3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5658073" y="2402756"/>
            <a:ext cx="295014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K.3 Akuntabilitas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4943698" y="2647429"/>
            <a:ext cx="1005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ppmk4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5658073" y="2647429"/>
            <a:ext cx="29501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K.4 Diferensiasi Misi</a:t>
            </a:r>
            <a:endParaRPr lang="en-US" sz="8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967" y="4217491"/>
            <a:ext cx="3935983" cy="654546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4807967" y="4221063"/>
            <a:ext cx="393598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8740378" y="4217491"/>
            <a:ext cx="0" cy="654546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4807967" y="4868466"/>
            <a:ext cx="3935983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4818683" y="4217491"/>
            <a:ext cx="0" cy="654546"/>
          </a:xfrm>
          <a:prstGeom prst="line">
            <a:avLst/>
          </a:prstGeom>
          <a:noFill/>
          <a:ln w="21431">
            <a:solidFill>
              <a:srgbClr val="38BDF8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4957986" y="432464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336" dirty="0"/>
          </a:p>
        </p:txBody>
      </p:sp>
      <p:sp>
        <p:nvSpPr>
          <p:cNvPr id="63" name="Text 53"/>
          <p:cNvSpPr/>
          <p:nvPr/>
        </p:nvSpPr>
        <p:spPr>
          <a:xfrm>
            <a:off x="5179442" y="4374654"/>
            <a:ext cx="860932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ATURAN MAIN</a:t>
            </a:r>
            <a:endParaRPr lang="en-US" sz="800" dirty="0"/>
          </a:p>
        </p:txBody>
      </p:sp>
      <p:sp>
        <p:nvSpPr>
          <p:cNvPr id="64" name="Text 54"/>
          <p:cNvSpPr/>
          <p:nvPr/>
        </p:nvSpPr>
        <p:spPr>
          <a:xfrm>
            <a:off x="5179442" y="4517529"/>
            <a:ext cx="3428777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Butir kriteria lain terkunci otomatis oleh aplikasi (peringatan muncul saat diklik) — kirimkan data Anda kepada pemilik kriteria. </a:t>
            </a:r>
            <a:pPr algn="l" indent="0" marL="0">
              <a:lnSpc>
                <a:spcPts val="1003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Butir merah dikerjakan lebih dulu.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-2000250"/>
            <a:ext cx="4286250" cy="428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0" y="-2000250"/>
            <a:ext cx="4286250" cy="42862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300038"/>
            <a:ext cx="351706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 JALAN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00050" y="450056"/>
            <a:ext cx="2754368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Hari Ini sampai </a:t>
            </a:r>
            <a:pPr algn="l" indent="0" marL="0">
              <a:lnSpc>
                <a:spcPts val="1918"/>
              </a:lnSpc>
              <a:buNone/>
            </a:pPr>
            <a:r>
              <a:rPr lang="en-US" sz="1744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SAPTO 2.0</a:t>
            </a:r>
            <a:endParaRPr lang="en-US" sz="1744" dirty="0"/>
          </a:p>
        </p:txBody>
      </p:sp>
      <p:sp>
        <p:nvSpPr>
          <p:cNvPr id="6" name="Text 3"/>
          <p:cNvSpPr/>
          <p:nvPr/>
        </p:nvSpPr>
        <p:spPr>
          <a:xfrm>
            <a:off x="7642446" y="570384"/>
            <a:ext cx="11015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Okt 2026 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Jun 2027</a:t>
            </a:r>
            <a:endParaRPr lang="en-US" sz="647" dirty="0"/>
          </a:p>
        </p:txBody>
      </p:sp>
      <p:sp>
        <p:nvSpPr>
          <p:cNvPr id="7" name="Text 4"/>
          <p:cNvSpPr/>
          <p:nvPr/>
        </p:nvSpPr>
        <p:spPr>
          <a:xfrm>
            <a:off x="400050" y="936501"/>
            <a:ext cx="25346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00050" y="1107951"/>
            <a:ext cx="2111957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Okt–Nov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00050" y="1245468"/>
            <a:ext cx="230657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Pemetaan</a:t>
            </a:r>
            <a:endParaRPr lang="en-US" sz="11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538362"/>
            <a:ext cx="1802011" cy="71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050" y="1681237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00063" y="1631231"/>
            <a:ext cx="17019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sosialisasi IAPT 4.1 &amp; pembagian butir </a:t>
            </a:r>
            <a:pPr algn="l" indent="0" marL="0">
              <a:lnSpc>
                <a:spcPts val="970"/>
              </a:lnSpc>
              <a:buNone/>
            </a:pPr>
            <a:r>
              <a:rPr lang="en-US" sz="800" i="1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(sedang berjalan)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00050" y="1991990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00063" y="1941984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simulasi skor &amp; 8 SPU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(26 Okt–6 Nov)</a:t>
            </a:r>
            <a:endParaRPr lang="en-US" sz="647" dirty="0"/>
          </a:p>
        </p:txBody>
      </p:sp>
      <p:sp>
        <p:nvSpPr>
          <p:cNvPr id="15" name="Text 11"/>
          <p:cNvSpPr/>
          <p:nvPr/>
        </p:nvSpPr>
        <p:spPr>
          <a:xfrm>
            <a:off x="400050" y="2179513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00063" y="2129507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validasi data PD Dikti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348508" y="807913"/>
            <a:ext cx="0" cy="3656930"/>
          </a:xfrm>
          <a:prstGeom prst="line">
            <a:avLst/>
          </a:prstGeom>
          <a:noFill/>
          <a:ln w="7144">
            <a:solidFill>
              <a:srgbClr val="94B2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494955" y="936501"/>
            <a:ext cx="180201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494955" y="1107951"/>
            <a:ext cx="180201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Nov 2026–Jan 2027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494955" y="1245468"/>
            <a:ext cx="180201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Penulisan</a:t>
            </a:r>
            <a:endParaRPr lang="en-US" sz="1125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955" y="1538362"/>
            <a:ext cx="1802011" cy="71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94955" y="1681237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594967" y="1631231"/>
            <a:ext cx="17019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pengumpulan bukti &amp; pengisian LKPT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(9 Nov–18 Des)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494955" y="1991990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594967" y="1941984"/>
            <a:ext cx="17019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draf LED Bab I + K.1, K.2, K.3–K.4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(9 Nov–8 Jan)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494955" y="2302743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2594967" y="2252737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tracer study &amp; survei kepuasan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2494955" y="2490267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2594967" y="2440260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lintas kriteria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(11–22 Jan)</a:t>
            </a:r>
            <a:endParaRPr lang="en-US" sz="647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278" y="807913"/>
            <a:ext cx="2073473" cy="365693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514850" y="811485"/>
            <a:ext cx="2066330" cy="3649787"/>
          </a:xfrm>
          <a:prstGeom prst="roundRect">
            <a:avLst>
              <a:gd name="adj" fmla="val 6453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47009" y="943645"/>
            <a:ext cx="10569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3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5709665" y="921213"/>
            <a:ext cx="762216" cy="152019"/>
          </a:xfrm>
          <a:prstGeom prst="roundRect">
            <a:avLst>
              <a:gd name="adj" fmla="val 37594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732525" y="929357"/>
            <a:ext cx="716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62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TONGGAK UNGGAH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647009" y="1129382"/>
            <a:ext cx="180201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Jan–Mar 2027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647009" y="1266899"/>
            <a:ext cx="1802011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Kualitas</a:t>
            </a:r>
            <a:endParaRPr lang="en-US" sz="1125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009" y="1559793"/>
            <a:ext cx="1802011" cy="71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647009" y="1702668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747022" y="1652662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revisi &amp; penutupan kekurangan bukti</a:t>
            </a:r>
            <a:endParaRPr lang="en-US" sz="647" dirty="0"/>
          </a:p>
        </p:txBody>
      </p:sp>
      <p:sp>
        <p:nvSpPr>
          <p:cNvPr id="40" name="Text 33"/>
          <p:cNvSpPr/>
          <p:nvPr/>
        </p:nvSpPr>
        <p:spPr>
          <a:xfrm>
            <a:off x="4647009" y="1890192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747022" y="1840185"/>
            <a:ext cx="17019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simulasi asesmen asesor pendamping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(8–12 Feb)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4647009" y="2200945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747022" y="2150938"/>
            <a:ext cx="17019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finalisasi &amp; pengesahan pimpinan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(1–12 Mar)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647009" y="2472407"/>
            <a:ext cx="1802011" cy="0"/>
          </a:xfrm>
          <a:prstGeom prst="line">
            <a:avLst/>
          </a:prstGeom>
          <a:noFill/>
          <a:ln w="7144">
            <a:solidFill>
              <a:srgbClr val="38BDF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47009" y="254831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195" dirty="0"/>
          </a:p>
        </p:txBody>
      </p:sp>
      <p:sp>
        <p:nvSpPr>
          <p:cNvPr id="46" name="Text 39"/>
          <p:cNvSpPr/>
          <p:nvPr/>
        </p:nvSpPr>
        <p:spPr>
          <a:xfrm>
            <a:off x="4825603" y="2547417"/>
            <a:ext cx="16234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UNGGAH SAPTO 2.0 (15–19 Mar)</a:t>
            </a:r>
            <a:endParaRPr lang="en-US" sz="647" dirty="0"/>
          </a:p>
        </p:txBody>
      </p:sp>
      <p:sp>
        <p:nvSpPr>
          <p:cNvPr id="47" name="Text 40"/>
          <p:cNvSpPr/>
          <p:nvPr/>
        </p:nvSpPr>
        <p:spPr>
          <a:xfrm>
            <a:off x="6799064" y="936501"/>
            <a:ext cx="234493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4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6799064" y="1107951"/>
            <a:ext cx="2111957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Apr–Jun 2027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6799064" y="1245468"/>
            <a:ext cx="230657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Asesmen</a:t>
            </a:r>
            <a:endParaRPr lang="en-US" sz="1125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064" y="1538362"/>
            <a:ext cx="1802011" cy="714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799064" y="1681237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6899077" y="1631231"/>
            <a:ext cx="1701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asesmen kecukupan BAN-PT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(Apr–Mei)</a:t>
            </a:r>
            <a:endParaRPr lang="en-US" sz="647" dirty="0"/>
          </a:p>
        </p:txBody>
      </p:sp>
      <p:sp>
        <p:nvSpPr>
          <p:cNvPr id="53" name="Text 45"/>
          <p:cNvSpPr/>
          <p:nvPr/>
        </p:nvSpPr>
        <p:spPr>
          <a:xfrm>
            <a:off x="6799064" y="1868760"/>
            <a:ext cx="35719" cy="35719"/>
          </a:xfrm>
          <a:prstGeom prst="ellipse">
            <a:avLst/>
          </a:prstGeom>
          <a:solidFill>
            <a:srgbClr val="6E86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6899077" y="1818754"/>
            <a:ext cx="17864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asesmen lapangan bila ditetapkan DE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EAF2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(Jun)</a:t>
            </a:r>
            <a:endParaRPr lang="en-US" sz="647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4579144"/>
            <a:ext cx="8343900" cy="307181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403622" y="4582716"/>
            <a:ext cx="8336756" cy="300038"/>
          </a:xfrm>
          <a:prstGeom prst="roundRect">
            <a:avLst>
              <a:gd name="adj" fmla="val 44444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535781" y="4664869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336" dirty="0"/>
          </a:p>
        </p:txBody>
      </p:sp>
      <p:sp>
        <p:nvSpPr>
          <p:cNvPr id="58" name="Text 49"/>
          <p:cNvSpPr/>
          <p:nvPr/>
        </p:nvSpPr>
        <p:spPr>
          <a:xfrm>
            <a:off x="764381" y="4679156"/>
            <a:ext cx="13370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TENGGAT REGULASI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1818754" y="4673129"/>
            <a:ext cx="6789465" cy="12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kesempatan perbaikan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bulan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bila belum memenuhi (Psl 77) · LAM wajib menjadi BHP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≤ 16 Juli 2027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(Psl 113)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77099638-97ven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82" y="0"/>
            <a:ext cx="4206218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82" y="0"/>
            <a:ext cx="4206218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82" y="0"/>
            <a:ext cx="4206218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28750" y="-1714500"/>
            <a:ext cx="4000500" cy="4000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1428750" y="-1714500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400050" y="34290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PENUTUP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00050" y="535781"/>
            <a:ext cx="7072313" cy="63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33"/>
              </a:lnSpc>
              <a:buNone/>
            </a:pPr>
            <a:r>
              <a:rPr lang="en-US" sz="1913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Unggul bukan polesan akhir —</a:t>
            </a:r>
            <a:endParaRPr lang="en-US" sz="1913" dirty="0"/>
          </a:p>
          <a:p>
            <a:pPr algn="l" indent="0" marL="0">
              <a:lnSpc>
                <a:spcPts val="2333"/>
              </a:lnSpc>
              <a:buNone/>
            </a:pPr>
            <a:r>
              <a:rPr lang="en-US" sz="1913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ia </a:t>
            </a:r>
            <a:pPr algn="l" indent="0" marL="0">
              <a:lnSpc>
                <a:spcPts val="2333"/>
              </a:lnSpc>
              <a:buNone/>
            </a:pPr>
            <a:r>
              <a:rPr lang="en-US" sz="1913" b="1" dirty="0">
                <a:solidFill>
                  <a:srgbClr val="38BDF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delapan indikator</a:t>
            </a:r>
            <a:pPr algn="l" indent="0" marL="0">
              <a:lnSpc>
                <a:spcPts val="2333"/>
              </a:lnSpc>
              <a:buNone/>
            </a:pPr>
            <a:r>
              <a:rPr lang="en-US" sz="1913" b="1" dirty="0">
                <a:solidFill>
                  <a:srgbClr val="EAF2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yang dipenuhi lebih awal.</a:t>
            </a:r>
            <a:endParaRPr lang="en-US" sz="191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299716"/>
            <a:ext cx="2714625" cy="78938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03622" y="1303288"/>
            <a:ext cx="2707481" cy="782241"/>
          </a:xfrm>
          <a:prstGeom prst="roundRect">
            <a:avLst>
              <a:gd name="adj" fmla="val 17047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521494" y="1406872"/>
            <a:ext cx="2471738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81" dirty="0"/>
          </a:p>
        </p:txBody>
      </p:sp>
      <p:sp>
        <p:nvSpPr>
          <p:cNvPr id="12" name="Text 5"/>
          <p:cNvSpPr/>
          <p:nvPr/>
        </p:nvSpPr>
        <p:spPr>
          <a:xfrm>
            <a:off x="521494" y="1674763"/>
            <a:ext cx="2581466" cy="1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Pemenuhan indikator mendahului skor</a:t>
            </a:r>
            <a:endParaRPr lang="en-US" sz="816" dirty="0"/>
          </a:p>
        </p:txBody>
      </p:sp>
      <p:sp>
        <p:nvSpPr>
          <p:cNvPr id="13" name="Text 6"/>
          <p:cNvSpPr/>
          <p:nvPr/>
        </p:nvSpPr>
        <p:spPr>
          <a:xfrm>
            <a:off x="521494" y="1858714"/>
            <a:ext cx="258146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pastikan 8 SPU terpenuhi sebelum memoles narasi</a:t>
            </a:r>
            <a:endParaRPr lang="en-US" sz="647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88" y="1299716"/>
            <a:ext cx="2714625" cy="7893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218259" y="1303288"/>
            <a:ext cx="2707481" cy="782241"/>
          </a:xfrm>
          <a:prstGeom prst="roundRect">
            <a:avLst>
              <a:gd name="adj" fmla="val 17047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3336131" y="1406872"/>
            <a:ext cx="2471738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81" dirty="0"/>
          </a:p>
        </p:txBody>
      </p:sp>
      <p:sp>
        <p:nvSpPr>
          <p:cNvPr id="17" name="Text 9"/>
          <p:cNvSpPr/>
          <p:nvPr/>
        </p:nvSpPr>
        <p:spPr>
          <a:xfrm>
            <a:off x="3336131" y="1674763"/>
            <a:ext cx="2471738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data, satu pintu</a:t>
            </a:r>
            <a:endParaRPr lang="en-US" sz="816" dirty="0"/>
          </a:p>
        </p:txBody>
      </p:sp>
      <p:sp>
        <p:nvSpPr>
          <p:cNvPr id="18" name="Text 10"/>
          <p:cNvSpPr/>
          <p:nvPr/>
        </p:nvSpPr>
        <p:spPr>
          <a:xfrm>
            <a:off x="3336131" y="1858714"/>
            <a:ext cx="258146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 Dikti adalah sumber tunggal seluruh angka LED</a:t>
            </a:r>
            <a:endParaRPr lang="en-US" sz="64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25" y="1299716"/>
            <a:ext cx="2714625" cy="78938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032897" y="1303288"/>
            <a:ext cx="2707481" cy="782241"/>
          </a:xfrm>
          <a:prstGeom prst="roundRect">
            <a:avLst>
              <a:gd name="adj" fmla="val 17047"/>
            </a:avLst>
          </a:prstGeom>
          <a:noFill/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6150769" y="1406872"/>
            <a:ext cx="2471738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81" dirty="0"/>
          </a:p>
        </p:txBody>
      </p:sp>
      <p:sp>
        <p:nvSpPr>
          <p:cNvPr id="22" name="Text 13"/>
          <p:cNvSpPr/>
          <p:nvPr/>
        </p:nvSpPr>
        <p:spPr>
          <a:xfrm>
            <a:off x="6150769" y="1674763"/>
            <a:ext cx="2581465" cy="1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Diferensiasi sebagai benang merah</a:t>
            </a:r>
            <a:endParaRPr lang="en-US" sz="816" dirty="0"/>
          </a:p>
        </p:txBody>
      </p:sp>
      <p:sp>
        <p:nvSpPr>
          <p:cNvPr id="23" name="Text 14"/>
          <p:cNvSpPr/>
          <p:nvPr/>
        </p:nvSpPr>
        <p:spPr>
          <a:xfrm>
            <a:off x="6150769" y="1858714"/>
            <a:ext cx="258146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kriteria menopang misi khas UNITA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403622" y="2192685"/>
            <a:ext cx="4733069" cy="2361456"/>
          </a:xfrm>
          <a:prstGeom prst="roundRect">
            <a:avLst>
              <a:gd name="adj" fmla="val 5647"/>
            </a:avLst>
          </a:prstGeom>
          <a:solidFill>
            <a:srgbClr val="0C2038">
              <a:alpha val="78000"/>
            </a:srgbClr>
          </a:solidFill>
          <a:ln w="7144">
            <a:solidFill>
              <a:srgbClr val="94B2D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535781" y="2353419"/>
            <a:ext cx="120451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9CB1CE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RISIKO → MITIGASI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535781" y="2539157"/>
            <a:ext cx="1535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doktor/DTJA lambat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828800" y="25534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28" name="Text 19"/>
          <p:cNvSpPr/>
          <p:nvPr/>
        </p:nvSpPr>
        <p:spPr>
          <a:xfrm>
            <a:off x="1993106" y="2539157"/>
            <a:ext cx="3011425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rekrutmen &amp; studi lanjut mulai sekarang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535781" y="2730252"/>
            <a:ext cx="4468750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dash"/>
          </a:ln>
        </p:spPr>
      </p:sp>
      <p:sp>
        <p:nvSpPr>
          <p:cNvPr id="30" name="Text 21"/>
          <p:cNvSpPr/>
          <p:nvPr/>
        </p:nvSpPr>
        <p:spPr>
          <a:xfrm>
            <a:off x="535781" y="2798118"/>
            <a:ext cx="153590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opini WTP belum ada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1828800" y="281240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2" name="Text 23"/>
          <p:cNvSpPr/>
          <p:nvPr/>
        </p:nvSpPr>
        <p:spPr>
          <a:xfrm>
            <a:off x="1993106" y="2798118"/>
            <a:ext cx="30114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kontrak KAP 2026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535781" y="2989213"/>
            <a:ext cx="4468750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dash"/>
          </a:ln>
        </p:spPr>
      </p:sp>
      <p:sp>
        <p:nvSpPr>
          <p:cNvPr id="34" name="Text 25"/>
          <p:cNvSpPr/>
          <p:nvPr/>
        </p:nvSpPr>
        <p:spPr>
          <a:xfrm>
            <a:off x="535781" y="3057079"/>
            <a:ext cx="153590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prodi Unggul/A &lt; 2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1828800" y="30713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6" name="Text 27"/>
          <p:cNvSpPr/>
          <p:nvPr/>
        </p:nvSpPr>
        <p:spPr>
          <a:xfrm>
            <a:off x="1993106" y="3057079"/>
            <a:ext cx="30114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fokus 2–3 prodi prioritas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535781" y="3248174"/>
            <a:ext cx="4468750" cy="0"/>
          </a:xfrm>
          <a:prstGeom prst="line">
            <a:avLst/>
          </a:prstGeom>
          <a:noFill/>
          <a:ln w="7144">
            <a:solidFill>
              <a:srgbClr val="94B2D8"/>
            </a:solidFill>
            <a:prstDash val="dash"/>
          </a:ln>
        </p:spPr>
      </p:sp>
      <p:sp>
        <p:nvSpPr>
          <p:cNvPr id="38" name="Text 29"/>
          <p:cNvSpPr/>
          <p:nvPr/>
        </p:nvSpPr>
        <p:spPr>
          <a:xfrm>
            <a:off x="535781" y="3316039"/>
            <a:ext cx="153590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tidak sinkron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1828800" y="33303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0" name="Text 31"/>
          <p:cNvSpPr/>
          <p:nvPr/>
        </p:nvSpPr>
        <p:spPr>
          <a:xfrm>
            <a:off x="1993106" y="3316039"/>
            <a:ext cx="30114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kurator data &amp; verifikasi bulanan</a:t>
            </a:r>
            <a:endParaRPr lang="en-US" sz="8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0275" y="2189113"/>
            <a:ext cx="3503675" cy="236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43847" y="2192685"/>
            <a:ext cx="3496531" cy="2361456"/>
          </a:xfrm>
          <a:prstGeom prst="roundRect">
            <a:avLst>
              <a:gd name="adj" fmla="val 5647"/>
            </a:avLst>
          </a:prstGeom>
          <a:noFill/>
          <a:ln w="7144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16200000">
              <a:srgbClr val="38BDF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5376007" y="2296269"/>
            <a:ext cx="323221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38BD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KEPUTUSAN RAPAT HARI INI</a:t>
            </a:r>
            <a:endParaRPr lang="en-US" sz="800" dirty="0"/>
          </a:p>
        </p:txBody>
      </p:sp>
      <p:sp>
        <p:nvSpPr>
          <p:cNvPr id="44" name="Text 34"/>
          <p:cNvSpPr/>
          <p:nvPr/>
        </p:nvSpPr>
        <p:spPr>
          <a:xfrm>
            <a:off x="5376007" y="274945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5" name="Text 35"/>
          <p:cNvSpPr/>
          <p:nvPr/>
        </p:nvSpPr>
        <p:spPr>
          <a:xfrm>
            <a:off x="5568888" y="2748558"/>
            <a:ext cx="3039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sahkan 8 SPU sebagai program wajib</a:t>
            </a:r>
            <a:endParaRPr lang="en-US" sz="800" dirty="0"/>
          </a:p>
        </p:txBody>
      </p:sp>
      <p:sp>
        <p:nvSpPr>
          <p:cNvPr id="46" name="Text 36"/>
          <p:cNvSpPr/>
          <p:nvPr/>
        </p:nvSpPr>
        <p:spPr>
          <a:xfrm>
            <a:off x="5376007" y="31749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7" name="Text 37"/>
          <p:cNvSpPr/>
          <p:nvPr/>
        </p:nvSpPr>
        <p:spPr>
          <a:xfrm>
            <a:off x="5568888" y="3174057"/>
            <a:ext cx="3039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tetapkan prodi prioritas Unggul/A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5376007" y="36004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9" name="Text 39"/>
          <p:cNvSpPr/>
          <p:nvPr/>
        </p:nvSpPr>
        <p:spPr>
          <a:xfrm>
            <a:off x="5568888" y="3599557"/>
            <a:ext cx="3039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anggarkan doktor, jabatan, KAP &amp; HKI</a:t>
            </a:r>
            <a:endParaRPr lang="en-US" sz="800" dirty="0"/>
          </a:p>
        </p:txBody>
      </p:sp>
      <p:sp>
        <p:nvSpPr>
          <p:cNvPr id="50" name="Text 40"/>
          <p:cNvSpPr/>
          <p:nvPr/>
        </p:nvSpPr>
        <p:spPr>
          <a:xfrm>
            <a:off x="5376007" y="402595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51" name="Text 41"/>
          <p:cNvSpPr/>
          <p:nvPr/>
        </p:nvSpPr>
        <p:spPr>
          <a:xfrm>
            <a:off x="5568888" y="4025057"/>
            <a:ext cx="3039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ritme rapat mingguan task force</a:t>
            </a:r>
            <a:endParaRPr lang="en-US" sz="8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400050" y="4657725"/>
            <a:ext cx="8343900" cy="714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400050" y="4753273"/>
            <a:ext cx="1290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EAF2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Penjaminan Mutu UNITA</a:t>
            </a:r>
            <a:endParaRPr lang="en-US" sz="647" dirty="0"/>
          </a:p>
        </p:txBody>
      </p:sp>
      <p:sp>
        <p:nvSpPr>
          <p:cNvPr id="54" name="Text 43"/>
          <p:cNvSpPr/>
          <p:nvPr/>
        </p:nvSpPr>
        <p:spPr>
          <a:xfrm>
            <a:off x="1665945" y="4729163"/>
            <a:ext cx="914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E8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775445" y="4753273"/>
            <a:ext cx="1070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CB1C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Rapat Persiapan Akreditasi</a:t>
            </a:r>
            <a:endParaRPr lang="en-US" sz="647" dirty="0"/>
          </a:p>
        </p:txBody>
      </p:sp>
      <p:sp>
        <p:nvSpPr>
          <p:cNvPr id="56" name="Text 45"/>
          <p:cNvSpPr/>
          <p:nvPr/>
        </p:nvSpPr>
        <p:spPr>
          <a:xfrm>
            <a:off x="2837855" y="4729163"/>
            <a:ext cx="914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E86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2947355" y="4753273"/>
            <a:ext cx="5796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B1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Oktober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2026-10-22T13:51:39Z</dcterms:created>
  <dcterms:modified xsi:type="dcterms:W3CDTF">2026-10-22T13:51:39Z</dcterms:modified>
</cp:coreProperties>
</file>